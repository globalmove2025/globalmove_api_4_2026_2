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4"/>
    <p:sldMasterId id="2147483648" r:id="rId5"/>
  </p:sldMasterIdLst>
  <p:notesMasterIdLst>
    <p:notesMasterId r:id="rId31"/>
  </p:notesMasterIdLst>
  <p:sldIdLst>
    <p:sldId id="282" r:id="rId6"/>
    <p:sldId id="276" r:id="rId7"/>
    <p:sldId id="277" r:id="rId8"/>
    <p:sldId id="278" r:id="rId9"/>
    <p:sldId id="279" r:id="rId10"/>
    <p:sldId id="280" r:id="rId11"/>
    <p:sldId id="281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4" r:id="rId29"/>
    <p:sldId id="275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E65D71-C6E0-4F35-9B90-0613D2289BC3}" v="21" dt="2026-08-25T20:36:11.966"/>
    <p1510:client id="{45B488A1-9238-B8AE-CCA5-00784B126212}" v="11" dt="2026-08-25T19:41:11.6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1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Documento-base: 1.3 Plano de Trabalho_Log Experience.docx, fornecido pelo usuário.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Documento-base: 1.3 Plano de Trabalho_Log Experience.docx, fornecido pelo usuário.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Documento-base: 1.3 Plano de Trabalho_Log Experience.docx, fornecido pelo usuário.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Documento-base: 1.3 Plano de Trabalho_Log Experience.docx, fornecido pelo usuário.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Documento-base: 1.3 Plano de Trabalho_Log Experience.docx, fornecido pelo usuário.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Documento-base: 1.3 Plano de Trabalho_Log Experience.docx, fornecido pelo usuário.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Documento-base: 1.3 Plano de Trabalho_Log Experience.docx, fornecido pelo usuário.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Documento-base: 1.3 Plano de Trabalho_Log Experience.docx, fornecido pelo usuário.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Documento-base: 1.3 Plano de Trabalho_Log Experience.docx, fornecido pelo usuário.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Documento-base: 1.3 Plano de Trabalho_Log Experience.docx, fornecido pelo usuário.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Documento-base: 1.3 Plano de Trabalho_Log Experience.docx, fornecido pelo usuário.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Documento-base: 1.3 Plano de Trabalho_Log Experience.docx, fornecido pelo usuário.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Documento-base: 1.3 Plano de Trabalho_Log Experience.docx, fornecido pelo usuário.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Documento-base: 1.3 Plano de Trabalho_Log Experience.docx, fornecido pelo usuário.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Documento-base: 1.3 Plano de Trabalho_Log Experience.docx, fornecido pelo usuário.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Documento-base: 1.3 Plano de Trabalho_Log Experience.docx, fornecido pelo usuário.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Documento-base: 1.3 Plano de Trabalho_Log Experience.docx, fornecido pelo usuário.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Documento-base: 1.3 Plano de Trabalho_Log Experience.docx, fornecido pelo usuário.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385C4-9BAC-9C72-49C5-1027388A1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6B0B5F-A9D6-E162-C0F6-11651ABA5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02125A-1BC7-F466-6164-E380835FD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708675-2282-D9C0-54FD-0A3338506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37F81F-B2B7-7124-7AC4-EA4EF5949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8815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20FA9A-4598-612A-8391-2874A321B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3C66F8-90FA-85C2-47D9-6C096D649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A25810-F333-602B-4EC9-B0891E771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B75B21-CCA7-9344-28DE-FA75E84B6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2431DA-D0F8-2AA4-F686-659274365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7031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92A55-C5E9-89EA-6326-842604FA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E4AE43-1C4E-3E99-11D6-A519FA1BC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03B627-5384-A06D-E25D-25E805ABD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02A916-5C42-E9BD-9A24-876569113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F6FE91-2889-9D7B-65DD-A7CAD6C13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009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6EE79F-8DA1-EF81-AEC6-18B73AD55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9CB87D-D2FA-DBB2-3C95-6E25607273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F81F02A-2431-7E5D-0D2C-0BADF6CEF1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BAC55C-7005-1905-5660-CDE21EEAE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8C5F34-04AC-4F12-C8E0-C1FB2F11C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9CA6A9-DE97-55E4-0DCC-C01620517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702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1452CE-B26C-F78A-ACCC-38CC6F7F1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258329-224F-97A9-28DD-53434C648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EB901A-3519-556A-DF23-B15D1983F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98FFC5F-F900-4A23-3F44-EF24CE464A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E1F5001-4E03-71A1-47A8-4E9FFD246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835C3E2-CC17-B3B6-A439-E9A3C05DB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CE2C6D1-C86E-9F2B-1B13-E92D0F357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03A1ED9-1826-660D-BCC6-978240812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0483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2D916-AF1E-4F7A-4FA5-5201B1E5C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DA55332-05F9-D7A1-B8F0-947021FEE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9852AA2-7D70-EA08-CE50-1DE74A72F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78E2515-7B22-5CBE-7745-55BFEFF24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726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A75D73C-BE35-7549-42E1-5D9E00A2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1D75354-D92E-759F-EB95-EA6A3D1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60C9B63-2088-780D-5EEF-CEFCEA9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3189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3B80F-CE96-374E-F609-B178D6F9F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302E80-2797-16F6-F310-8108A39CB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DBAD53-8AF4-3E74-E076-FDC9BFF43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61DD9D-AD98-CB2F-65D8-229B0E570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D60E72-31CE-5C56-1070-77DD2BE8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D9B32C-A9A0-12FE-91C4-0C873A4EB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0135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18A12-B0E0-9375-458D-9267E3265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00223EF-4637-AE52-66FD-0B27FCE477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FB2EF2-C125-54D2-1EF5-8B587C10B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F268DF-3392-5D1A-B617-C118D1BCA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D4D19D-D86C-7E95-8989-0B51839C5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5DB2E8-794B-5FDB-723E-C286C96F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408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F69FD5-1408-B146-F41A-7C464980D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83778-6031-12E0-4A07-CBF2681A4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C01548-9CF7-E27D-28E9-190ACA1EE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1DE872-06DE-0891-6104-2C8CCB21B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753A42-6E7F-D3AA-A205-189E46963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8837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BA56E90-9FFF-9104-10E3-4A374B0BB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9784915-D823-2638-AD71-7BE2C3DAA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925646-14F1-A79B-C4B7-71D61B39D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F9D2AD-8FC9-ED34-2D45-8926881A4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1F3C3A-42F8-C8D7-9F85-D949F2134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35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ork_cptm/template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385C4-9BAC-9C72-49C5-1027388A1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6B0B5F-A9D6-E162-C0F6-11651ABA5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02125A-1BC7-F466-6164-E380835FD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708675-2282-D9C0-54FD-0A3338506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37F81F-B2B7-7124-7AC4-EA4EF5949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6600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8D8E16A-843B-9F07-C81D-C3E010FA7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5E835F-5A82-DB76-4ECB-A01FB7A7A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8A22A5-8C49-7A6B-427A-A68F3D0F0E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2C47D3-7C66-3C4A-8E33-4B9A2E707011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53BB03-F987-528F-0416-7441FEB3A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071A7A-72B7-3512-1062-B3436AB47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756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DC4BCD1-DAC6-A77E-5984-EE4141177CB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99A4C65E-A501-A43E-044B-4AA741364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0332" y="793283"/>
            <a:ext cx="7936138" cy="1653888"/>
          </a:xfrm>
        </p:spPr>
        <p:txBody>
          <a:bodyPr>
            <a:noAutofit/>
          </a:bodyPr>
          <a:lstStyle/>
          <a:p>
            <a:pPr algn="l"/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Controle, Análise e Acompanhamento de Estoque</a:t>
            </a:r>
            <a:endParaRPr lang="pt-BR" sz="3600" dirty="0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53971DF9-155A-0FA9-15AD-4F1157747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0332" y="2745477"/>
            <a:ext cx="7414351" cy="804709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pt-BR" sz="1600" dirty="0"/>
              <a:t>Data: 25/08/2026</a:t>
            </a:r>
          </a:p>
          <a:p>
            <a:pPr algn="l">
              <a:lnSpc>
                <a:spcPct val="100000"/>
              </a:lnSpc>
            </a:pPr>
            <a:r>
              <a:rPr lang="pt-BR" sz="1600" dirty="0"/>
              <a:t>Versão 01</a:t>
            </a:r>
          </a:p>
        </p:txBody>
      </p:sp>
    </p:spTree>
    <p:extLst>
      <p:ext uri="{BB962C8B-B14F-4D97-AF65-F5344CB8AC3E}">
        <p14:creationId xmlns:p14="http://schemas.microsoft.com/office/powerpoint/2010/main" val="150749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20785BB-1DF5-4853-A544-73AFC037E6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6" name="Rounded Rectangle 2">
            <a:extLst>
              <a:ext uri="{FF2B5EF4-FFF2-40B4-BE49-F238E27FC236}">
                <a16:creationId xmlns:a16="http://schemas.microsoft.com/office/drawing/2014/main" id="{B6B7ED51-321F-4AE2-8BAE-0B101DEF2837}"/>
              </a:ext>
            </a:extLst>
          </p:cNvPr>
          <p:cNvSpPr/>
          <p:nvPr/>
        </p:nvSpPr>
        <p:spPr>
          <a:xfrm>
            <a:off x="381000" y="1763850"/>
            <a:ext cx="533400" cy="28575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8" name="Rounded Rectangle 3">
            <a:extLst>
              <a:ext uri="{FF2B5EF4-FFF2-40B4-BE49-F238E27FC236}">
                <a16:creationId xmlns:a16="http://schemas.microsoft.com/office/drawing/2014/main" id="{C62A9298-68A1-4DFF-9D7D-A1C4705440AA}"/>
              </a:ext>
            </a:extLst>
          </p:cNvPr>
          <p:cNvSpPr/>
          <p:nvPr/>
        </p:nvSpPr>
        <p:spPr>
          <a:xfrm>
            <a:off x="381000" y="2612447"/>
            <a:ext cx="2786062" cy="589061"/>
          </a:xfrm>
          <a:prstGeom prst="roundRect">
            <a:avLst>
              <a:gd name="adj" fmla="val 12935"/>
            </a:avLst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0" name="Rounded Rectangle 4">
            <a:extLst>
              <a:ext uri="{FF2B5EF4-FFF2-40B4-BE49-F238E27FC236}">
                <a16:creationId xmlns:a16="http://schemas.microsoft.com/office/drawing/2014/main" id="{C2976911-C4E4-4C63-AAA0-8440AA85D7B0}"/>
              </a:ext>
            </a:extLst>
          </p:cNvPr>
          <p:cNvSpPr/>
          <p:nvPr/>
        </p:nvSpPr>
        <p:spPr>
          <a:xfrm>
            <a:off x="3262312" y="2612447"/>
            <a:ext cx="2786062" cy="589061"/>
          </a:xfrm>
          <a:prstGeom prst="roundRect">
            <a:avLst>
              <a:gd name="adj" fmla="val 12935"/>
            </a:avLst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2" name="Rounded Rectangle 5">
            <a:extLst>
              <a:ext uri="{FF2B5EF4-FFF2-40B4-BE49-F238E27FC236}">
                <a16:creationId xmlns:a16="http://schemas.microsoft.com/office/drawing/2014/main" id="{55E14E38-5F5E-4C1A-8F46-56E9F93611B8}"/>
              </a:ext>
            </a:extLst>
          </p:cNvPr>
          <p:cNvSpPr/>
          <p:nvPr/>
        </p:nvSpPr>
        <p:spPr>
          <a:xfrm>
            <a:off x="6143625" y="2612447"/>
            <a:ext cx="2786062" cy="589061"/>
          </a:xfrm>
          <a:prstGeom prst="roundRect">
            <a:avLst>
              <a:gd name="adj" fmla="val 12935"/>
            </a:avLst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4" name="Rounded Rectangle 6">
            <a:extLst>
              <a:ext uri="{FF2B5EF4-FFF2-40B4-BE49-F238E27FC236}">
                <a16:creationId xmlns:a16="http://schemas.microsoft.com/office/drawing/2014/main" id="{CFAFFD07-D526-4DDA-8BD5-92D7CA47FF14}"/>
              </a:ext>
            </a:extLst>
          </p:cNvPr>
          <p:cNvSpPr/>
          <p:nvPr/>
        </p:nvSpPr>
        <p:spPr>
          <a:xfrm>
            <a:off x="9024937" y="2612447"/>
            <a:ext cx="2786062" cy="589061"/>
          </a:xfrm>
          <a:prstGeom prst="roundRect">
            <a:avLst>
              <a:gd name="adj" fmla="val 12935"/>
            </a:avLst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76" name="Picture 7" descr="image.png">
            <a:extLst>
              <a:ext uri="{FF2B5EF4-FFF2-40B4-BE49-F238E27FC236}">
                <a16:creationId xmlns:a16="http://schemas.microsoft.com/office/drawing/2014/main" id="{BD7F5AEE-C3BC-4DF5-9275-CCB5EEC5B4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" y="3656493"/>
            <a:ext cx="182837" cy="208957"/>
          </a:xfrm>
          <a:prstGeom prst="rect">
            <a:avLst/>
          </a:prstGeom>
        </p:spPr>
      </p:pic>
      <p:sp>
        <p:nvSpPr>
          <p:cNvPr id="78" name="Rounded Rectangle 8">
            <a:extLst>
              <a:ext uri="{FF2B5EF4-FFF2-40B4-BE49-F238E27FC236}">
                <a16:creationId xmlns:a16="http://schemas.microsoft.com/office/drawing/2014/main" id="{B9584205-86D5-475D-B052-663ACF1E591F}"/>
              </a:ext>
            </a:extLst>
          </p:cNvPr>
          <p:cNvSpPr/>
          <p:nvPr/>
        </p:nvSpPr>
        <p:spPr>
          <a:xfrm>
            <a:off x="362522" y="4535203"/>
            <a:ext cx="3733799" cy="965596"/>
          </a:xfrm>
          <a:prstGeom prst="roundRect">
            <a:avLst>
              <a:gd name="adj" fmla="val 78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0" name="Oval 9">
            <a:extLst>
              <a:ext uri="{FF2B5EF4-FFF2-40B4-BE49-F238E27FC236}">
                <a16:creationId xmlns:a16="http://schemas.microsoft.com/office/drawing/2014/main" id="{7C6C8632-3E5F-499B-A2AD-90A21BE932BC}"/>
              </a:ext>
            </a:extLst>
          </p:cNvPr>
          <p:cNvSpPr/>
          <p:nvPr/>
        </p:nvSpPr>
        <p:spPr>
          <a:xfrm>
            <a:off x="533399" y="4706653"/>
            <a:ext cx="342781" cy="33002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82" name="Picture 10" descr="image.png">
            <a:extLst>
              <a:ext uri="{FF2B5EF4-FFF2-40B4-BE49-F238E27FC236}">
                <a16:creationId xmlns:a16="http://schemas.microsoft.com/office/drawing/2014/main" id="{BAE1DFFD-7F43-483F-972A-914BB1ECF7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679" y="4798214"/>
            <a:ext cx="146902" cy="146902"/>
          </a:xfrm>
          <a:prstGeom prst="rect">
            <a:avLst/>
          </a:prstGeom>
        </p:spPr>
      </p:pic>
      <p:sp>
        <p:nvSpPr>
          <p:cNvPr id="84" name="Rounded Rectangle 11">
            <a:extLst>
              <a:ext uri="{FF2B5EF4-FFF2-40B4-BE49-F238E27FC236}">
                <a16:creationId xmlns:a16="http://schemas.microsoft.com/office/drawing/2014/main" id="{359F4C85-0039-45AD-90F2-26AB97DBAC5C}"/>
              </a:ext>
            </a:extLst>
          </p:cNvPr>
          <p:cNvSpPr/>
          <p:nvPr/>
        </p:nvSpPr>
        <p:spPr>
          <a:xfrm>
            <a:off x="4229100" y="4535203"/>
            <a:ext cx="3733799" cy="965596"/>
          </a:xfrm>
          <a:prstGeom prst="roundRect">
            <a:avLst>
              <a:gd name="adj" fmla="val 78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6" name="Oval 12">
            <a:extLst>
              <a:ext uri="{FF2B5EF4-FFF2-40B4-BE49-F238E27FC236}">
                <a16:creationId xmlns:a16="http://schemas.microsoft.com/office/drawing/2014/main" id="{6A8434CC-25F9-4D0F-8073-D9AFA1C6B80E}"/>
              </a:ext>
            </a:extLst>
          </p:cNvPr>
          <p:cNvSpPr/>
          <p:nvPr/>
        </p:nvSpPr>
        <p:spPr>
          <a:xfrm>
            <a:off x="8038956" y="4706653"/>
            <a:ext cx="342781" cy="330024"/>
          </a:xfrm>
          <a:prstGeom prst="ellipse">
            <a:avLst/>
          </a:prstGeom>
          <a:solidFill>
            <a:srgbClr val="9A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88" name="Picture 13" descr="image.png">
            <a:extLst>
              <a:ext uri="{FF2B5EF4-FFF2-40B4-BE49-F238E27FC236}">
                <a16:creationId xmlns:a16="http://schemas.microsoft.com/office/drawing/2014/main" id="{7BBF44FF-FEAD-441D-9B6B-05E9D392D6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44914" y="4819841"/>
            <a:ext cx="130863" cy="130863"/>
          </a:xfrm>
          <a:prstGeom prst="rect">
            <a:avLst/>
          </a:prstGeom>
        </p:spPr>
      </p:pic>
      <p:sp>
        <p:nvSpPr>
          <p:cNvPr id="90" name="Rounded Rectangle 14">
            <a:extLst>
              <a:ext uri="{FF2B5EF4-FFF2-40B4-BE49-F238E27FC236}">
                <a16:creationId xmlns:a16="http://schemas.microsoft.com/office/drawing/2014/main" id="{8966817D-07BA-4BF6-81FE-74A613A8D290}"/>
              </a:ext>
            </a:extLst>
          </p:cNvPr>
          <p:cNvSpPr/>
          <p:nvPr/>
        </p:nvSpPr>
        <p:spPr>
          <a:xfrm>
            <a:off x="4190977" y="4557152"/>
            <a:ext cx="3733799" cy="965596"/>
          </a:xfrm>
          <a:prstGeom prst="roundRect">
            <a:avLst>
              <a:gd name="adj" fmla="val 78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2" name="Oval 15">
            <a:extLst>
              <a:ext uri="{FF2B5EF4-FFF2-40B4-BE49-F238E27FC236}">
                <a16:creationId xmlns:a16="http://schemas.microsoft.com/office/drawing/2014/main" id="{CA43026C-A6AE-4754-8DCE-925E7B465A1C}"/>
              </a:ext>
            </a:extLst>
          </p:cNvPr>
          <p:cNvSpPr/>
          <p:nvPr/>
        </p:nvSpPr>
        <p:spPr>
          <a:xfrm>
            <a:off x="4343376" y="4728602"/>
            <a:ext cx="342781" cy="330024"/>
          </a:xfrm>
          <a:prstGeom prst="ellips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94" name="Picture 16" descr="image.png">
            <a:extLst>
              <a:ext uri="{FF2B5EF4-FFF2-40B4-BE49-F238E27FC236}">
                <a16:creationId xmlns:a16="http://schemas.microsoft.com/office/drawing/2014/main" id="{F2CD8BC4-04F5-439C-AD37-0211258496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0497" y="4850364"/>
            <a:ext cx="128538" cy="114256"/>
          </a:xfrm>
          <a:prstGeom prst="rect">
            <a:avLst/>
          </a:prstGeom>
        </p:spPr>
      </p:pic>
      <p:sp>
        <p:nvSpPr>
          <p:cNvPr id="96" name="TextBox 19">
            <a:extLst>
              <a:ext uri="{FF2B5EF4-FFF2-40B4-BE49-F238E27FC236}">
                <a16:creationId xmlns:a16="http://schemas.microsoft.com/office/drawing/2014/main" id="{7BA5D6C2-2DD1-4147-A918-2BD7852CF338}"/>
              </a:ext>
            </a:extLst>
          </p:cNvPr>
          <p:cNvSpPr txBox="1"/>
          <p:nvPr/>
        </p:nvSpPr>
        <p:spPr>
          <a:xfrm>
            <a:off x="380990" y="777525"/>
            <a:ext cx="305711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sz="1400" b="1" i="0" dirty="0">
                <a:solidFill>
                  <a:srgbClr val="CC0000"/>
                </a:solidFill>
                <a:latin typeface="Aptos (Corpo)"/>
              </a:rPr>
              <a:t>CONTEXTUALIZAÇÃO INSTITUCIONAL</a:t>
            </a:r>
          </a:p>
        </p:txBody>
      </p:sp>
      <p:sp>
        <p:nvSpPr>
          <p:cNvPr id="98" name="TextBox 20">
            <a:extLst>
              <a:ext uri="{FF2B5EF4-FFF2-40B4-BE49-F238E27FC236}">
                <a16:creationId xmlns:a16="http://schemas.microsoft.com/office/drawing/2014/main" id="{D395CA77-0AED-4704-8819-A3306E1951A1}"/>
              </a:ext>
            </a:extLst>
          </p:cNvPr>
          <p:cNvSpPr txBox="1"/>
          <p:nvPr/>
        </p:nvSpPr>
        <p:spPr>
          <a:xfrm>
            <a:off x="380990" y="1322434"/>
            <a:ext cx="79618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b="1" i="0" dirty="0">
                <a:solidFill>
                  <a:srgbClr val="0D1B3E"/>
                </a:solidFill>
                <a:latin typeface="Aptos (Corpo)"/>
              </a:rPr>
              <a:t>A CPTM</a:t>
            </a:r>
          </a:p>
        </p:txBody>
      </p:sp>
      <p:sp>
        <p:nvSpPr>
          <p:cNvPr id="100" name="TextBox 21">
            <a:extLst>
              <a:ext uri="{FF2B5EF4-FFF2-40B4-BE49-F238E27FC236}">
                <a16:creationId xmlns:a16="http://schemas.microsoft.com/office/drawing/2014/main" id="{0310F9A9-F0CE-4552-816E-B5CC953A7085}"/>
              </a:ext>
            </a:extLst>
          </p:cNvPr>
          <p:cNvSpPr txBox="1"/>
          <p:nvPr/>
        </p:nvSpPr>
        <p:spPr>
          <a:xfrm>
            <a:off x="380990" y="1955408"/>
            <a:ext cx="9309280" cy="629607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pPr algn="l"/>
            <a:r>
              <a:rPr lang="pt-BR" sz="1400" b="0" i="0" dirty="0">
                <a:solidFill>
                  <a:srgbClr val="374151"/>
                </a:solidFill>
                <a:latin typeface="Aptos (Corpo)"/>
              </a:rPr>
              <a:t>- A CPTM é considerada um dos pilares do transporte metropolitano paulista.</a:t>
            </a:r>
          </a:p>
          <a:p>
            <a:pPr algn="l"/>
            <a:r>
              <a:rPr lang="pt-BR" sz="1400" b="0" i="0" dirty="0">
                <a:solidFill>
                  <a:srgbClr val="374151"/>
                </a:solidFill>
                <a:latin typeface="Aptos (Corpo)"/>
              </a:rPr>
              <a:t>- Empresa pública fundada em </a:t>
            </a:r>
            <a:r>
              <a:rPr lang="pt-BR" sz="1400" b="1" i="0" dirty="0">
                <a:solidFill>
                  <a:srgbClr val="374151"/>
                </a:solidFill>
                <a:latin typeface="Aptos (Corpo)"/>
              </a:rPr>
              <a:t>1992</a:t>
            </a:r>
            <a:r>
              <a:rPr lang="pt-BR" sz="1400" b="0" i="0" dirty="0">
                <a:solidFill>
                  <a:srgbClr val="374151"/>
                </a:solidFill>
                <a:latin typeface="Aptos (Corpo)"/>
              </a:rPr>
              <a:t>, vinculada à Secretaria de Transportes Metropolitanos (STM).</a:t>
            </a:r>
          </a:p>
        </p:txBody>
      </p:sp>
      <p:sp>
        <p:nvSpPr>
          <p:cNvPr id="102" name="TextBox 22">
            <a:extLst>
              <a:ext uri="{FF2B5EF4-FFF2-40B4-BE49-F238E27FC236}">
                <a16:creationId xmlns:a16="http://schemas.microsoft.com/office/drawing/2014/main" id="{8A7BD8DA-79E6-4CAF-91CA-B75C3BA8C82D}"/>
              </a:ext>
            </a:extLst>
          </p:cNvPr>
          <p:cNvSpPr txBox="1"/>
          <p:nvPr/>
        </p:nvSpPr>
        <p:spPr>
          <a:xfrm>
            <a:off x="1443692" y="2679091"/>
            <a:ext cx="6604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600" b="1" i="0" dirty="0">
                <a:solidFill>
                  <a:srgbClr val="FFB800"/>
                </a:solidFill>
                <a:latin typeface="Aptos (Corpo)"/>
              </a:rPr>
              <a:t>138 km</a:t>
            </a:r>
          </a:p>
        </p:txBody>
      </p:sp>
      <p:sp>
        <p:nvSpPr>
          <p:cNvPr id="104" name="TextBox 23">
            <a:extLst>
              <a:ext uri="{FF2B5EF4-FFF2-40B4-BE49-F238E27FC236}">
                <a16:creationId xmlns:a16="http://schemas.microsoft.com/office/drawing/2014/main" id="{64CAA734-E26C-465D-AE41-BC4AF5DEF6F2}"/>
              </a:ext>
            </a:extLst>
          </p:cNvPr>
          <p:cNvSpPr txBox="1"/>
          <p:nvPr/>
        </p:nvSpPr>
        <p:spPr>
          <a:xfrm>
            <a:off x="1450906" y="2972424"/>
            <a:ext cx="64601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ptos (Corpo)"/>
              </a:rPr>
              <a:t>de</a:t>
            </a:r>
            <a:r>
              <a:rPr sz="1200" b="1" i="0" dirty="0">
                <a:solidFill>
                  <a:srgbClr val="FFFFFF"/>
                </a:solidFill>
                <a:latin typeface="Open Sans"/>
              </a:rPr>
              <a:t> </a:t>
            </a:r>
            <a:r>
              <a:rPr lang="pt-BR" sz="1200" b="1" i="0" noProof="0" dirty="0">
                <a:solidFill>
                  <a:srgbClr val="FFFFFF"/>
                </a:solidFill>
                <a:latin typeface="Aptos (Corpo)"/>
              </a:rPr>
              <a:t>linhas</a:t>
            </a:r>
            <a:endParaRPr sz="1200" b="1" i="0" dirty="0">
              <a:solidFill>
                <a:srgbClr val="FFFFFF"/>
              </a:solidFill>
              <a:latin typeface="Aptos (Corpo)"/>
            </a:endParaRPr>
          </a:p>
        </p:txBody>
      </p:sp>
      <p:sp>
        <p:nvSpPr>
          <p:cNvPr id="106" name="TextBox 24">
            <a:extLst>
              <a:ext uri="{FF2B5EF4-FFF2-40B4-BE49-F238E27FC236}">
                <a16:creationId xmlns:a16="http://schemas.microsoft.com/office/drawing/2014/main" id="{38917700-70BA-4D29-9B05-B59A2C1B1E70}"/>
              </a:ext>
            </a:extLst>
          </p:cNvPr>
          <p:cNvSpPr txBox="1"/>
          <p:nvPr/>
        </p:nvSpPr>
        <p:spPr>
          <a:xfrm>
            <a:off x="4546222" y="2679091"/>
            <a:ext cx="21800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600" b="1" i="0" dirty="0">
                <a:solidFill>
                  <a:srgbClr val="FFB800"/>
                </a:solidFill>
                <a:latin typeface="Aptos (Corpo)"/>
              </a:rPr>
              <a:t>41</a:t>
            </a:r>
          </a:p>
        </p:txBody>
      </p:sp>
      <p:sp>
        <p:nvSpPr>
          <p:cNvPr id="108" name="TextBox 25">
            <a:extLst>
              <a:ext uri="{FF2B5EF4-FFF2-40B4-BE49-F238E27FC236}">
                <a16:creationId xmlns:a16="http://schemas.microsoft.com/office/drawing/2014/main" id="{61A05728-7592-4C4F-8636-69E7330D46DB}"/>
              </a:ext>
            </a:extLst>
          </p:cNvPr>
          <p:cNvSpPr txBox="1"/>
          <p:nvPr/>
        </p:nvSpPr>
        <p:spPr>
          <a:xfrm>
            <a:off x="4334593" y="2972424"/>
            <a:ext cx="641266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200" b="1" i="0" noProof="0" dirty="0">
                <a:solidFill>
                  <a:srgbClr val="FFFFFF"/>
                </a:solidFill>
                <a:latin typeface="Aptos (Corpo)"/>
              </a:rPr>
              <a:t>estações</a:t>
            </a:r>
          </a:p>
        </p:txBody>
      </p:sp>
      <p:sp>
        <p:nvSpPr>
          <p:cNvPr id="110" name="TextBox 26">
            <a:extLst>
              <a:ext uri="{FF2B5EF4-FFF2-40B4-BE49-F238E27FC236}">
                <a16:creationId xmlns:a16="http://schemas.microsoft.com/office/drawing/2014/main" id="{BE4A5E07-A2E8-4B6A-89A8-9C8318EAEABC}"/>
              </a:ext>
            </a:extLst>
          </p:cNvPr>
          <p:cNvSpPr txBox="1"/>
          <p:nvPr/>
        </p:nvSpPr>
        <p:spPr>
          <a:xfrm>
            <a:off x="7427388" y="2679091"/>
            <a:ext cx="21800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600" b="1" i="0" dirty="0">
                <a:solidFill>
                  <a:srgbClr val="FFB800"/>
                </a:solidFill>
                <a:latin typeface="Aptos (Corpo)"/>
              </a:rPr>
              <a:t>12</a:t>
            </a:r>
          </a:p>
        </p:txBody>
      </p:sp>
      <p:sp>
        <p:nvSpPr>
          <p:cNvPr id="112" name="TextBox 27">
            <a:extLst>
              <a:ext uri="{FF2B5EF4-FFF2-40B4-BE49-F238E27FC236}">
                <a16:creationId xmlns:a16="http://schemas.microsoft.com/office/drawing/2014/main" id="{DFA8D6A4-C316-4D8E-A71C-E43EAE885155}"/>
              </a:ext>
            </a:extLst>
          </p:cNvPr>
          <p:cNvSpPr txBox="1"/>
          <p:nvPr/>
        </p:nvSpPr>
        <p:spPr>
          <a:xfrm>
            <a:off x="7144458" y="2972424"/>
            <a:ext cx="783869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200" b="1" i="0" noProof="0" dirty="0">
                <a:solidFill>
                  <a:srgbClr val="FFFFFF"/>
                </a:solidFill>
                <a:latin typeface="Aptos (Corpo)"/>
              </a:rPr>
              <a:t>municípios</a:t>
            </a:r>
          </a:p>
        </p:txBody>
      </p:sp>
      <p:sp>
        <p:nvSpPr>
          <p:cNvPr id="114" name="TextBox 28">
            <a:extLst>
              <a:ext uri="{FF2B5EF4-FFF2-40B4-BE49-F238E27FC236}">
                <a16:creationId xmlns:a16="http://schemas.microsoft.com/office/drawing/2014/main" id="{8BEB9DD9-7993-430A-907C-F69538566AE5}"/>
              </a:ext>
            </a:extLst>
          </p:cNvPr>
          <p:cNvSpPr txBox="1"/>
          <p:nvPr/>
        </p:nvSpPr>
        <p:spPr>
          <a:xfrm>
            <a:off x="10084208" y="2679091"/>
            <a:ext cx="66685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600" b="1" i="0" dirty="0">
                <a:solidFill>
                  <a:srgbClr val="FFB800"/>
                </a:solidFill>
                <a:latin typeface="Aptos (Corpo)"/>
              </a:rPr>
              <a:t>~1,2 mi</a:t>
            </a:r>
          </a:p>
        </p:txBody>
      </p:sp>
      <p:sp>
        <p:nvSpPr>
          <p:cNvPr id="116" name="TextBox 29">
            <a:extLst>
              <a:ext uri="{FF2B5EF4-FFF2-40B4-BE49-F238E27FC236}">
                <a16:creationId xmlns:a16="http://schemas.microsoft.com/office/drawing/2014/main" id="{D4EBC016-5CA7-4531-8196-4089D456BCF6}"/>
              </a:ext>
            </a:extLst>
          </p:cNvPr>
          <p:cNvSpPr txBox="1"/>
          <p:nvPr/>
        </p:nvSpPr>
        <p:spPr>
          <a:xfrm>
            <a:off x="9729944" y="2972424"/>
            <a:ext cx="1375377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pt-BR" sz="1200" b="1" i="0" noProof="0" dirty="0">
                <a:solidFill>
                  <a:srgbClr val="FFFFFF"/>
                </a:solidFill>
                <a:latin typeface="Aptos (Corpo)"/>
              </a:rPr>
              <a:t>passageiros/dia útil</a:t>
            </a:r>
          </a:p>
        </p:txBody>
      </p:sp>
      <p:sp>
        <p:nvSpPr>
          <p:cNvPr id="118" name="TextBox 30">
            <a:extLst>
              <a:ext uri="{FF2B5EF4-FFF2-40B4-BE49-F238E27FC236}">
                <a16:creationId xmlns:a16="http://schemas.microsoft.com/office/drawing/2014/main" id="{415BA7D2-C818-4D3B-8C53-01CFBEB3045D}"/>
              </a:ext>
            </a:extLst>
          </p:cNvPr>
          <p:cNvSpPr txBox="1"/>
          <p:nvPr/>
        </p:nvSpPr>
        <p:spPr>
          <a:xfrm>
            <a:off x="800100" y="3671375"/>
            <a:ext cx="544604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sz="1200" b="0" i="1" noProof="0" dirty="0">
                <a:solidFill>
                  <a:srgbClr val="4B5563"/>
                </a:solidFill>
                <a:latin typeface="Aptos (Corpo)"/>
              </a:rPr>
              <a:t>A CPTM </a:t>
            </a:r>
            <a:r>
              <a:rPr lang="pt-BR" sz="1200" i="1" dirty="0">
                <a:solidFill>
                  <a:srgbClr val="4B5563"/>
                </a:solidFill>
                <a:latin typeface="Aptos (Corpo)"/>
              </a:rPr>
              <a:t>o</a:t>
            </a:r>
            <a:r>
              <a:rPr lang="pt-BR" sz="1200" b="0" i="1" noProof="0" dirty="0">
                <a:solidFill>
                  <a:srgbClr val="4B5563"/>
                </a:solidFill>
                <a:latin typeface="Aptos (Corpo)"/>
              </a:rPr>
              <a:t>pera na Região Metropolitana de SP com cobertura multimodal integrada</a:t>
            </a:r>
          </a:p>
        </p:txBody>
      </p:sp>
      <p:sp>
        <p:nvSpPr>
          <p:cNvPr id="120" name="TextBox 31">
            <a:extLst>
              <a:ext uri="{FF2B5EF4-FFF2-40B4-BE49-F238E27FC236}">
                <a16:creationId xmlns:a16="http://schemas.microsoft.com/office/drawing/2014/main" id="{39BEA0AC-1ABA-4E00-927D-147E00C44345}"/>
              </a:ext>
            </a:extLst>
          </p:cNvPr>
          <p:cNvSpPr txBox="1"/>
          <p:nvPr/>
        </p:nvSpPr>
        <p:spPr>
          <a:xfrm>
            <a:off x="1010291" y="4785356"/>
            <a:ext cx="66524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sz="1600" b="1" i="0" noProof="0">
                <a:solidFill>
                  <a:srgbClr val="0D1B3E"/>
                </a:solidFill>
                <a:latin typeface="Aptos (Corpo)"/>
              </a:rPr>
              <a:t>Missão</a:t>
            </a:r>
          </a:p>
        </p:txBody>
      </p:sp>
      <p:sp>
        <p:nvSpPr>
          <p:cNvPr id="122" name="TextBox 32">
            <a:extLst>
              <a:ext uri="{FF2B5EF4-FFF2-40B4-BE49-F238E27FC236}">
                <a16:creationId xmlns:a16="http://schemas.microsoft.com/office/drawing/2014/main" id="{CCF1B61B-7D32-4CA3-AF84-6907E8A1C0C8}"/>
              </a:ext>
            </a:extLst>
          </p:cNvPr>
          <p:cNvSpPr txBox="1"/>
          <p:nvPr/>
        </p:nvSpPr>
        <p:spPr>
          <a:xfrm>
            <a:off x="699130" y="5141667"/>
            <a:ext cx="3038696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pt-BR" sz="1200" b="0" i="0" noProof="0" dirty="0">
                <a:solidFill>
                  <a:srgbClr val="374151"/>
                </a:solidFill>
                <a:latin typeface="Aptos (Corpo)"/>
              </a:rPr>
              <a:t>Prestar serviços de transporte propiciando mobilidade com excelência, sustentabilidade e acesso a serviços associados.</a:t>
            </a:r>
          </a:p>
        </p:txBody>
      </p:sp>
      <p:sp>
        <p:nvSpPr>
          <p:cNvPr id="124" name="TextBox 33">
            <a:extLst>
              <a:ext uri="{FF2B5EF4-FFF2-40B4-BE49-F238E27FC236}">
                <a16:creationId xmlns:a16="http://schemas.microsoft.com/office/drawing/2014/main" id="{28222508-6170-438E-BBA2-38546A850D07}"/>
              </a:ext>
            </a:extLst>
          </p:cNvPr>
          <p:cNvSpPr txBox="1"/>
          <p:nvPr/>
        </p:nvSpPr>
        <p:spPr>
          <a:xfrm>
            <a:off x="8519172" y="4783532"/>
            <a:ext cx="70000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i="0" dirty="0">
                <a:solidFill>
                  <a:srgbClr val="0D1B3E"/>
                </a:solidFill>
                <a:latin typeface="Aptos (Corpo)"/>
              </a:rPr>
              <a:t>Valores</a:t>
            </a:r>
          </a:p>
        </p:txBody>
      </p:sp>
      <p:sp>
        <p:nvSpPr>
          <p:cNvPr id="126" name="TextBox 34">
            <a:extLst>
              <a:ext uri="{FF2B5EF4-FFF2-40B4-BE49-F238E27FC236}">
                <a16:creationId xmlns:a16="http://schemas.microsoft.com/office/drawing/2014/main" id="{D5026D51-09E8-4C68-B789-61B4D4B946B9}"/>
              </a:ext>
            </a:extLst>
          </p:cNvPr>
          <p:cNvSpPr txBox="1"/>
          <p:nvPr/>
        </p:nvSpPr>
        <p:spPr>
          <a:xfrm>
            <a:off x="8210345" y="5151512"/>
            <a:ext cx="324958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pt-BR" sz="1200" b="0" i="0" noProof="0" dirty="0">
                <a:solidFill>
                  <a:srgbClr val="374151"/>
                </a:solidFill>
                <a:latin typeface="Aptos (Corpo)"/>
              </a:rPr>
              <a:t>Transparência, valorização do capital humano, respeito ao meio ambiente, foco na inovação e empreendedorismo.</a:t>
            </a:r>
          </a:p>
        </p:txBody>
      </p:sp>
      <p:sp>
        <p:nvSpPr>
          <p:cNvPr id="128" name="TextBox 35">
            <a:extLst>
              <a:ext uri="{FF2B5EF4-FFF2-40B4-BE49-F238E27FC236}">
                <a16:creationId xmlns:a16="http://schemas.microsoft.com/office/drawing/2014/main" id="{36823FE3-8196-4E7A-B297-44C53EA52A75}"/>
              </a:ext>
            </a:extLst>
          </p:cNvPr>
          <p:cNvSpPr txBox="1"/>
          <p:nvPr/>
        </p:nvSpPr>
        <p:spPr>
          <a:xfrm>
            <a:off x="4818214" y="4790456"/>
            <a:ext cx="51777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sz="1600" b="1" i="0" noProof="0" dirty="0">
                <a:solidFill>
                  <a:srgbClr val="0D1B3E"/>
                </a:solidFill>
                <a:latin typeface="Aptos (Corpo)"/>
              </a:rPr>
              <a:t>Visão</a:t>
            </a:r>
          </a:p>
        </p:txBody>
      </p:sp>
      <p:sp>
        <p:nvSpPr>
          <p:cNvPr id="130" name="TextBox 36">
            <a:extLst>
              <a:ext uri="{FF2B5EF4-FFF2-40B4-BE49-F238E27FC236}">
                <a16:creationId xmlns:a16="http://schemas.microsoft.com/office/drawing/2014/main" id="{B6E6C03B-7439-431F-93B7-D7CA4A25AA6E}"/>
              </a:ext>
            </a:extLst>
          </p:cNvPr>
          <p:cNvSpPr txBox="1"/>
          <p:nvPr/>
        </p:nvSpPr>
        <p:spPr>
          <a:xfrm>
            <a:off x="4514766" y="5151512"/>
            <a:ext cx="3124419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pt-BR" sz="1200" b="0" i="0" noProof="0" dirty="0">
                <a:solidFill>
                  <a:srgbClr val="374151"/>
                </a:solidFill>
                <a:latin typeface="Aptos (Corpo)"/>
              </a:rPr>
              <a:t>Ser o elo fundamental na cadeia intermodal de transporte de passageiros no Estado de São Paulo.</a:t>
            </a:r>
          </a:p>
        </p:txBody>
      </p:sp>
    </p:spTree>
    <p:extLst>
      <p:ext uri="{BB962C8B-B14F-4D97-AF65-F5344CB8AC3E}">
        <p14:creationId xmlns:p14="http://schemas.microsoft.com/office/powerpoint/2010/main" val="3279621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B9113-05A6-4C45-824B-1CFAEC830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5A4C05B-2A2C-4549-BD3D-53B5517440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4E23F2-7EDA-482F-9955-34069B261C2D}"/>
              </a:ext>
            </a:extLst>
          </p:cNvPr>
          <p:cNvSpPr/>
          <p:nvPr/>
        </p:nvSpPr>
        <p:spPr>
          <a:xfrm>
            <a:off x="342900" y="1496755"/>
            <a:ext cx="457200" cy="28575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4D018121-AF00-47D4-8512-6C086219145B}"/>
              </a:ext>
            </a:extLst>
          </p:cNvPr>
          <p:cNvSpPr txBox="1"/>
          <p:nvPr/>
        </p:nvSpPr>
        <p:spPr>
          <a:xfrm>
            <a:off x="342891" y="596618"/>
            <a:ext cx="249337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sz="1400" b="1" i="0" dirty="0">
                <a:solidFill>
                  <a:srgbClr val="CC0000"/>
                </a:solidFill>
                <a:latin typeface="Aptos (Corpo)"/>
              </a:rPr>
              <a:t>MOBILIDADE METROPOLITANA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26D16D80-424A-41DB-B42C-51B0B192D2CB}"/>
              </a:ext>
            </a:extLst>
          </p:cNvPr>
          <p:cNvSpPr txBox="1"/>
          <p:nvPr/>
        </p:nvSpPr>
        <p:spPr>
          <a:xfrm>
            <a:off x="342891" y="1126757"/>
            <a:ext cx="4531946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b="1" dirty="0">
                <a:solidFill>
                  <a:srgbClr val="0D1B3E"/>
                </a:solidFill>
                <a:latin typeface="Aptos (Corpo)"/>
              </a:rPr>
              <a:t>A </a:t>
            </a:r>
            <a:r>
              <a:rPr lang="pt-BR" b="1" i="0" dirty="0">
                <a:solidFill>
                  <a:srgbClr val="0D1B3E"/>
                </a:solidFill>
                <a:latin typeface="Aptos (Corpo)"/>
              </a:rPr>
              <a:t>CPTM na Mobilidade Urbana de São Paulo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65552E4-35BC-F250-9436-CFDCE3FC494C}"/>
              </a:ext>
            </a:extLst>
          </p:cNvPr>
          <p:cNvGrpSpPr/>
          <p:nvPr/>
        </p:nvGrpSpPr>
        <p:grpSpPr>
          <a:xfrm>
            <a:off x="330447" y="2006540"/>
            <a:ext cx="6972300" cy="835407"/>
            <a:chOff x="356283" y="2314569"/>
            <a:chExt cx="6972300" cy="761743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52914391-545F-48B3-B6C1-557A6EE8D823}"/>
                </a:ext>
              </a:extLst>
            </p:cNvPr>
            <p:cNvSpPr/>
            <p:nvPr/>
          </p:nvSpPr>
          <p:spPr>
            <a:xfrm>
              <a:off x="356283" y="2316904"/>
              <a:ext cx="6972300" cy="759408"/>
            </a:xfrm>
            <a:prstGeom prst="rect">
              <a:avLst/>
            </a:prstGeom>
            <a:solidFill>
              <a:srgbClr val="FFFB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37520D76-DCAC-469D-BE4A-A06F67D8A337}"/>
                </a:ext>
              </a:extLst>
            </p:cNvPr>
            <p:cNvSpPr/>
            <p:nvPr/>
          </p:nvSpPr>
          <p:spPr>
            <a:xfrm>
              <a:off x="365758" y="2314569"/>
              <a:ext cx="45719" cy="761743"/>
            </a:xfrm>
            <a:prstGeom prst="rect">
              <a:avLst/>
            </a:prstGeom>
            <a:solidFill>
              <a:srgbClr val="FFB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2" name="TextBox 15">
              <a:extLst>
                <a:ext uri="{FF2B5EF4-FFF2-40B4-BE49-F238E27FC236}">
                  <a16:creationId xmlns:a16="http://schemas.microsoft.com/office/drawing/2014/main" id="{CDADE84D-3A16-4518-BF69-D39955778A32}"/>
                </a:ext>
              </a:extLst>
            </p:cNvPr>
            <p:cNvSpPr txBox="1"/>
            <p:nvPr/>
          </p:nvSpPr>
          <p:spPr>
            <a:xfrm>
              <a:off x="381000" y="2314569"/>
              <a:ext cx="6771807" cy="694574"/>
            </a:xfrm>
            <a:prstGeom prst="rect">
              <a:avLst/>
            </a:prstGeom>
            <a:noFill/>
          </p:spPr>
          <p:txBody>
            <a:bodyPr wrap="square" lIns="95247" tIns="57148" rIns="76198" bIns="57148">
              <a:spAutoFit/>
            </a:bodyPr>
            <a:lstStyle/>
            <a:p>
              <a:pPr algn="l"/>
              <a:r>
                <a:rPr lang="pt-BR" sz="1400" b="0" i="0" noProof="0" dirty="0">
                  <a:solidFill>
                    <a:srgbClr val="374151"/>
                  </a:solidFill>
                  <a:latin typeface="Aptos (Corpo)"/>
                </a:rPr>
                <a:t>A malha ferroviária da CPTM constitui um dos principais eixos do transporte de média e longa distância na Região Metropolitana de São Paulo, conectando municípios distantes ao centro.</a:t>
              </a:r>
            </a:p>
          </p:txBody>
        </p:sp>
      </p:grpSp>
      <p:sp>
        <p:nvSpPr>
          <p:cNvPr id="24" name="TextBox 16">
            <a:extLst>
              <a:ext uri="{FF2B5EF4-FFF2-40B4-BE49-F238E27FC236}">
                <a16:creationId xmlns:a16="http://schemas.microsoft.com/office/drawing/2014/main" id="{76F1E7AF-66EC-43DD-88EA-45D0B8FF0DBD}"/>
              </a:ext>
            </a:extLst>
          </p:cNvPr>
          <p:cNvSpPr txBox="1"/>
          <p:nvPr/>
        </p:nvSpPr>
        <p:spPr>
          <a:xfrm>
            <a:off x="774662" y="3363354"/>
            <a:ext cx="822341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b="1" i="0" dirty="0">
                <a:solidFill>
                  <a:srgbClr val="CC0000"/>
                </a:solidFill>
                <a:latin typeface="Aptos (Corpo)"/>
              </a:rPr>
              <a:t>53,5 mil</a:t>
            </a: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ECC6F9F7-B078-44A6-9607-890E6A61AABD}"/>
              </a:ext>
            </a:extLst>
          </p:cNvPr>
          <p:cNvSpPr txBox="1"/>
          <p:nvPr/>
        </p:nvSpPr>
        <p:spPr>
          <a:xfrm>
            <a:off x="502241" y="3669654"/>
            <a:ext cx="136718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pt-BR" sz="1200" b="1" i="0" noProof="0" dirty="0">
                <a:solidFill>
                  <a:srgbClr val="4B5563"/>
                </a:solidFill>
                <a:latin typeface="Aptos (Corpo)"/>
              </a:rPr>
              <a:t>km percorridos</a:t>
            </a:r>
          </a:p>
          <a:p>
            <a:pPr algn="ctr"/>
            <a:r>
              <a:rPr lang="pt-BR" sz="1200" b="1" i="0" noProof="0" dirty="0">
                <a:solidFill>
                  <a:srgbClr val="4B5563"/>
                </a:solidFill>
                <a:latin typeface="Aptos (Corpo)"/>
              </a:rPr>
              <a:t>por dia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B8FAC2BA-5ECC-4AD7-9987-FCF3EF6E8D12}"/>
              </a:ext>
            </a:extLst>
          </p:cNvPr>
          <p:cNvSpPr txBox="1"/>
          <p:nvPr/>
        </p:nvSpPr>
        <p:spPr>
          <a:xfrm>
            <a:off x="3459739" y="3364759"/>
            <a:ext cx="56265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b="1" i="0" dirty="0">
                <a:solidFill>
                  <a:srgbClr val="CC0000"/>
                </a:solidFill>
                <a:latin typeface="Aptos (Corpo)"/>
              </a:rPr>
              <a:t>1.551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E9C5F0A0-A7AE-43AB-8D20-11BA412874F4}"/>
              </a:ext>
            </a:extLst>
          </p:cNvPr>
          <p:cNvSpPr txBox="1"/>
          <p:nvPr/>
        </p:nvSpPr>
        <p:spPr>
          <a:xfrm>
            <a:off x="3155989" y="3675145"/>
            <a:ext cx="1170153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pt-BR" sz="1200" b="1" i="0" noProof="0" dirty="0">
                <a:solidFill>
                  <a:srgbClr val="4B5563"/>
                </a:solidFill>
                <a:latin typeface="Aptos (Corpo)"/>
              </a:rPr>
              <a:t>viagens/dia</a:t>
            </a:r>
          </a:p>
          <a:p>
            <a:pPr algn="ctr"/>
            <a:r>
              <a:rPr lang="pt-BR" sz="1200" b="1" i="0" noProof="0" dirty="0">
                <a:solidFill>
                  <a:srgbClr val="4B5563"/>
                </a:solidFill>
                <a:latin typeface="Aptos (Corpo)"/>
              </a:rPr>
              <a:t>programadas</a:t>
            </a:r>
          </a:p>
        </p:txBody>
      </p:sp>
      <p:sp>
        <p:nvSpPr>
          <p:cNvPr id="36" name="TextBox 22">
            <a:extLst>
              <a:ext uri="{FF2B5EF4-FFF2-40B4-BE49-F238E27FC236}">
                <a16:creationId xmlns:a16="http://schemas.microsoft.com/office/drawing/2014/main" id="{9BE9E238-63C6-4989-8873-B4F5845D4CB6}"/>
              </a:ext>
            </a:extLst>
          </p:cNvPr>
          <p:cNvSpPr txBox="1"/>
          <p:nvPr/>
        </p:nvSpPr>
        <p:spPr>
          <a:xfrm>
            <a:off x="5922482" y="3378167"/>
            <a:ext cx="2468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b="1" i="0" dirty="0">
                <a:solidFill>
                  <a:srgbClr val="CC0000"/>
                </a:solidFill>
                <a:latin typeface="Aptos (Corpo)"/>
              </a:rPr>
              <a:t>12</a:t>
            </a:r>
          </a:p>
        </p:txBody>
      </p:sp>
      <p:sp>
        <p:nvSpPr>
          <p:cNvPr id="38" name="TextBox 23">
            <a:extLst>
              <a:ext uri="{FF2B5EF4-FFF2-40B4-BE49-F238E27FC236}">
                <a16:creationId xmlns:a16="http://schemas.microsoft.com/office/drawing/2014/main" id="{FBFDB994-3141-46BB-8ACD-6A25D3F434CE}"/>
              </a:ext>
            </a:extLst>
          </p:cNvPr>
          <p:cNvSpPr txBox="1"/>
          <p:nvPr/>
        </p:nvSpPr>
        <p:spPr>
          <a:xfrm>
            <a:off x="5618203" y="3668037"/>
            <a:ext cx="955593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pt-BR" sz="1200" b="1" i="0" noProof="0" dirty="0">
                <a:solidFill>
                  <a:srgbClr val="4B5563"/>
                </a:solidFill>
                <a:latin typeface="Aptos (Corpo)"/>
              </a:rPr>
              <a:t>municípios</a:t>
            </a:r>
          </a:p>
          <a:p>
            <a:pPr algn="ctr"/>
            <a:r>
              <a:rPr lang="pt-BR" sz="1200" b="1" i="0" noProof="0" dirty="0">
                <a:solidFill>
                  <a:srgbClr val="4B5563"/>
                </a:solidFill>
                <a:latin typeface="Aptos (Corpo)"/>
              </a:rPr>
              <a:t>atendidos</a:t>
            </a:r>
          </a:p>
        </p:txBody>
      </p:sp>
      <p:sp>
        <p:nvSpPr>
          <p:cNvPr id="40" name="TextBox 27">
            <a:extLst>
              <a:ext uri="{FF2B5EF4-FFF2-40B4-BE49-F238E27FC236}">
                <a16:creationId xmlns:a16="http://schemas.microsoft.com/office/drawing/2014/main" id="{E4463B67-A6B0-4CB4-8A83-8E1D0760CD31}"/>
              </a:ext>
            </a:extLst>
          </p:cNvPr>
          <p:cNvSpPr txBox="1"/>
          <p:nvPr/>
        </p:nvSpPr>
        <p:spPr>
          <a:xfrm>
            <a:off x="342891" y="4519869"/>
            <a:ext cx="6972125" cy="14539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59986" indent="-159986" algn="l">
              <a:lnSpc>
                <a:spcPts val="1367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ct val="99999"/>
              <a:buFont typeface="Open Sans" charset="0"/>
              <a:buChar char="●"/>
            </a:pPr>
            <a:r>
              <a:rPr lang="pt-BR" sz="1400" b="0" i="0" noProof="0" dirty="0">
                <a:solidFill>
                  <a:srgbClr val="1F2937"/>
                </a:solidFill>
                <a:latin typeface="Aptos (Corpo)"/>
              </a:rPr>
              <a:t>Opera em integração com o Metrô de São Paulo, corredores de ônibus e sistemas municipais</a:t>
            </a:r>
          </a:p>
          <a:p>
            <a:pPr marL="159986" indent="-159986" algn="l">
              <a:lnSpc>
                <a:spcPts val="1367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ct val="99999"/>
              <a:buFont typeface="Open Sans" charset="0"/>
              <a:buChar char="●"/>
            </a:pPr>
            <a:endParaRPr lang="pt-BR" sz="1400" b="0" i="0" noProof="0" dirty="0">
              <a:solidFill>
                <a:srgbClr val="1F2937"/>
              </a:solidFill>
              <a:latin typeface="Aptos (Corpo)"/>
            </a:endParaRPr>
          </a:p>
          <a:p>
            <a:pPr marL="159986" indent="-159986" algn="l">
              <a:lnSpc>
                <a:spcPts val="1367"/>
              </a:lnSpc>
              <a:spcBef>
                <a:spcPts val="524"/>
              </a:spcBef>
              <a:spcAft>
                <a:spcPts val="0"/>
              </a:spcAft>
              <a:buClr>
                <a:srgbClr val="CC0000"/>
              </a:buClr>
              <a:buSzPct val="99999"/>
              <a:buFont typeface="Open Sans" charset="0"/>
              <a:buChar char="●"/>
            </a:pPr>
            <a:r>
              <a:rPr lang="pt-BR" sz="1400" b="0" i="0" noProof="0" dirty="0">
                <a:solidFill>
                  <a:srgbClr val="1F2937"/>
                </a:solidFill>
                <a:latin typeface="Aptos (Corpo)"/>
              </a:rPr>
              <a:t>Modal estruturante para deslocamentos de mais de 30 km entre municípios da RMSP</a:t>
            </a:r>
          </a:p>
          <a:p>
            <a:pPr marL="159986" indent="-159986" algn="l">
              <a:lnSpc>
                <a:spcPts val="1367"/>
              </a:lnSpc>
              <a:spcBef>
                <a:spcPts val="524"/>
              </a:spcBef>
              <a:spcAft>
                <a:spcPts val="0"/>
              </a:spcAft>
              <a:buClr>
                <a:srgbClr val="CC0000"/>
              </a:buClr>
              <a:buSzPct val="99999"/>
              <a:buFont typeface="Open Sans" charset="0"/>
              <a:buChar char="●"/>
            </a:pPr>
            <a:endParaRPr lang="pt-BR" sz="1400" b="0" i="0" noProof="0" dirty="0">
              <a:solidFill>
                <a:srgbClr val="1F2937"/>
              </a:solidFill>
              <a:latin typeface="Aptos (Corpo)"/>
            </a:endParaRPr>
          </a:p>
          <a:p>
            <a:pPr marL="159986" indent="-159986" algn="l">
              <a:lnSpc>
                <a:spcPts val="1367"/>
              </a:lnSpc>
              <a:spcBef>
                <a:spcPts val="524"/>
              </a:spcBef>
              <a:spcAft>
                <a:spcPts val="0"/>
              </a:spcAft>
              <a:buClr>
                <a:srgbClr val="CC0000"/>
              </a:buClr>
              <a:buSzPct val="99999"/>
              <a:buFont typeface="Open Sans" charset="0"/>
              <a:buChar char="●"/>
            </a:pPr>
            <a:r>
              <a:rPr lang="pt-BR" sz="1400" b="0" i="0" noProof="0" dirty="0">
                <a:solidFill>
                  <a:srgbClr val="1F2937"/>
                </a:solidFill>
                <a:latin typeface="Aptos (Corpo)"/>
              </a:rPr>
              <a:t>Diariamente percorre cerca de 53,5 mil km em 1.551 viagens programadas, atendendo regiões de alta densidade populacional com menor custo por passageiro transportado</a:t>
            </a:r>
          </a:p>
        </p:txBody>
      </p:sp>
      <p:pic>
        <p:nvPicPr>
          <p:cNvPr id="65" name="Picture 10" descr="image.png">
            <a:extLst>
              <a:ext uri="{FF2B5EF4-FFF2-40B4-BE49-F238E27FC236}">
                <a16:creationId xmlns:a16="http://schemas.microsoft.com/office/drawing/2014/main" id="{73746FB4-9DB7-4EE5-AF76-ABF827B6D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47623"/>
            <a:ext cx="4571885" cy="656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160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21747-A85A-46EB-9B5A-DEDA6A936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F82FCC3-4632-4F61-91DF-42FA49C8027C}"/>
              </a:ext>
            </a:extLst>
          </p:cNvPr>
          <p:cNvSpPr/>
          <p:nvPr/>
        </p:nvSpPr>
        <p:spPr>
          <a:xfrm>
            <a:off x="0" y="1301338"/>
            <a:ext cx="12192000" cy="28575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713652B-9AAE-4CF8-9BDB-57B481DA9ADC}"/>
              </a:ext>
            </a:extLst>
          </p:cNvPr>
          <p:cNvSpPr/>
          <p:nvPr/>
        </p:nvSpPr>
        <p:spPr>
          <a:xfrm>
            <a:off x="0" y="1329913"/>
            <a:ext cx="12192000" cy="3274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17EF247-40BF-4A55-AD79-D3DDFC782F2C}"/>
              </a:ext>
            </a:extLst>
          </p:cNvPr>
          <p:cNvSpPr/>
          <p:nvPr/>
        </p:nvSpPr>
        <p:spPr>
          <a:xfrm>
            <a:off x="0" y="1329913"/>
            <a:ext cx="50800" cy="327421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0" name="Oval 21">
            <a:extLst>
              <a:ext uri="{FF2B5EF4-FFF2-40B4-BE49-F238E27FC236}">
                <a16:creationId xmlns:a16="http://schemas.microsoft.com/office/drawing/2014/main" id="{605D431D-54B7-4FA7-AED9-4D9030275B58}"/>
              </a:ext>
            </a:extLst>
          </p:cNvPr>
          <p:cNvSpPr/>
          <p:nvPr/>
        </p:nvSpPr>
        <p:spPr>
          <a:xfrm>
            <a:off x="276213" y="5783818"/>
            <a:ext cx="367200" cy="338400"/>
          </a:xfrm>
          <a:prstGeom prst="ellipse">
            <a:avLst/>
          </a:prstGeom>
          <a:solidFill>
            <a:srgbClr val="CC000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23">
            <a:extLst>
              <a:ext uri="{FF2B5EF4-FFF2-40B4-BE49-F238E27FC236}">
                <a16:creationId xmlns:a16="http://schemas.microsoft.com/office/drawing/2014/main" id="{75076594-0F35-4C9A-82E2-119A1896D319}"/>
              </a:ext>
            </a:extLst>
          </p:cNvPr>
          <p:cNvSpPr/>
          <p:nvPr/>
        </p:nvSpPr>
        <p:spPr>
          <a:xfrm>
            <a:off x="691164" y="5565232"/>
            <a:ext cx="57555" cy="73724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8" name="TextBox 26">
            <a:extLst>
              <a:ext uri="{FF2B5EF4-FFF2-40B4-BE49-F238E27FC236}">
                <a16:creationId xmlns:a16="http://schemas.microsoft.com/office/drawing/2014/main" id="{73130518-C4DE-476F-93DC-F7B63BFEF9BB}"/>
              </a:ext>
            </a:extLst>
          </p:cNvPr>
          <p:cNvSpPr txBox="1"/>
          <p:nvPr/>
        </p:nvSpPr>
        <p:spPr>
          <a:xfrm>
            <a:off x="380990" y="555522"/>
            <a:ext cx="284379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sz="1400" b="1" dirty="0">
                <a:solidFill>
                  <a:srgbClr val="CC0000"/>
                </a:solidFill>
                <a:latin typeface="Aptos (Corpo)"/>
              </a:rPr>
              <a:t>TRANSFORMAÇÃO INSTITUCIONAL</a:t>
            </a:r>
          </a:p>
        </p:txBody>
      </p:sp>
      <p:sp>
        <p:nvSpPr>
          <p:cNvPr id="50" name="TextBox 27">
            <a:extLst>
              <a:ext uri="{FF2B5EF4-FFF2-40B4-BE49-F238E27FC236}">
                <a16:creationId xmlns:a16="http://schemas.microsoft.com/office/drawing/2014/main" id="{9EDF8C64-1DF1-4D05-9C8E-6FE0DAF4BD0A}"/>
              </a:ext>
            </a:extLst>
          </p:cNvPr>
          <p:cNvSpPr txBox="1"/>
          <p:nvPr/>
        </p:nvSpPr>
        <p:spPr>
          <a:xfrm>
            <a:off x="380990" y="913189"/>
            <a:ext cx="289822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b="1" dirty="0">
                <a:solidFill>
                  <a:srgbClr val="0D1B3E"/>
                </a:solidFill>
                <a:latin typeface="Aptos (Corpo)"/>
              </a:rPr>
              <a:t>O  Processo </a:t>
            </a:r>
            <a:r>
              <a:rPr lang="pt-BR" b="1" noProof="0" dirty="0">
                <a:solidFill>
                  <a:srgbClr val="0D1B3E"/>
                </a:solidFill>
                <a:latin typeface="Aptos (Corpo)"/>
              </a:rPr>
              <a:t>de Concessões</a:t>
            </a:r>
            <a:endParaRPr lang="pt-BR" b="1" dirty="0">
              <a:solidFill>
                <a:srgbClr val="0D1B3E"/>
              </a:solidFill>
              <a:latin typeface="Aptos (Corpo)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77CE4FF-4D13-7F4A-5B70-66781CF2178D}"/>
              </a:ext>
            </a:extLst>
          </p:cNvPr>
          <p:cNvGrpSpPr/>
          <p:nvPr/>
        </p:nvGrpSpPr>
        <p:grpSpPr>
          <a:xfrm>
            <a:off x="277335" y="2196364"/>
            <a:ext cx="7590589" cy="618412"/>
            <a:chOff x="277335" y="2196364"/>
            <a:chExt cx="7590589" cy="618412"/>
          </a:xfrm>
        </p:grpSpPr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9B20D75B-065E-4A74-8C7F-B112C67BE76B}"/>
                </a:ext>
              </a:extLst>
            </p:cNvPr>
            <p:cNvSpPr/>
            <p:nvPr/>
          </p:nvSpPr>
          <p:spPr>
            <a:xfrm>
              <a:off x="277335" y="2342089"/>
              <a:ext cx="366078" cy="339637"/>
            </a:xfrm>
            <a:prstGeom prst="ellipse">
              <a:avLst/>
            </a:prstGeom>
            <a:solidFill>
              <a:srgbClr val="059669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6E3599BA-87AB-40CE-AEC5-2170C560074E}"/>
                </a:ext>
              </a:extLst>
            </p:cNvPr>
            <p:cNvSpPr/>
            <p:nvPr/>
          </p:nvSpPr>
          <p:spPr>
            <a:xfrm>
              <a:off x="723900" y="2196364"/>
              <a:ext cx="69440" cy="618412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6" name="Rectangle 9">
              <a:extLst>
                <a:ext uri="{FF2B5EF4-FFF2-40B4-BE49-F238E27FC236}">
                  <a16:creationId xmlns:a16="http://schemas.microsoft.com/office/drawing/2014/main" id="{C6D030CA-569F-4F76-AE99-BBE1BAD50E46}"/>
                </a:ext>
              </a:extLst>
            </p:cNvPr>
            <p:cNvSpPr/>
            <p:nvPr/>
          </p:nvSpPr>
          <p:spPr>
            <a:xfrm>
              <a:off x="1866216" y="2281244"/>
              <a:ext cx="46164" cy="533531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52" name="TextBox 29">
              <a:extLst>
                <a:ext uri="{FF2B5EF4-FFF2-40B4-BE49-F238E27FC236}">
                  <a16:creationId xmlns:a16="http://schemas.microsoft.com/office/drawing/2014/main" id="{D66BADCB-7AF4-451F-A1A0-D22874AD0508}"/>
                </a:ext>
              </a:extLst>
            </p:cNvPr>
            <p:cNvSpPr txBox="1"/>
            <p:nvPr/>
          </p:nvSpPr>
          <p:spPr>
            <a:xfrm>
              <a:off x="914377" y="2282059"/>
              <a:ext cx="493725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b="1" i="0" dirty="0">
                  <a:solidFill>
                    <a:srgbClr val="0D1B3E"/>
                  </a:solidFill>
                  <a:latin typeface="Aptos (Corpo)"/>
                </a:rPr>
                <a:t>2021</a:t>
              </a:r>
            </a:p>
          </p:txBody>
        </p:sp>
        <p:sp>
          <p:nvSpPr>
            <p:cNvPr id="54" name="TextBox 30">
              <a:extLst>
                <a:ext uri="{FF2B5EF4-FFF2-40B4-BE49-F238E27FC236}">
                  <a16:creationId xmlns:a16="http://schemas.microsoft.com/office/drawing/2014/main" id="{3130D45A-3BE3-4586-BFF6-39C7BB0C90A4}"/>
                </a:ext>
              </a:extLst>
            </p:cNvPr>
            <p:cNvSpPr txBox="1"/>
            <p:nvPr/>
          </p:nvSpPr>
          <p:spPr>
            <a:xfrm>
              <a:off x="887127" y="2607029"/>
              <a:ext cx="817527" cy="207747"/>
            </a:xfrm>
            <a:prstGeom prst="rect">
              <a:avLst/>
            </a:prstGeom>
            <a:solidFill>
              <a:srgbClr val="059669"/>
            </a:solidFill>
          </p:spPr>
          <p:txBody>
            <a:bodyPr wrap="none" lIns="76198" tIns="19049" rIns="76198" bIns="19049">
              <a:spAutoFit/>
            </a:bodyPr>
            <a:lstStyle/>
            <a:p>
              <a:pPr algn="l"/>
              <a:r>
                <a:rPr lang="pt-BR" sz="1100" b="1" i="0" dirty="0">
                  <a:solidFill>
                    <a:srgbClr val="1C1C1C"/>
                  </a:solidFill>
                  <a:latin typeface="Aptos (Corpo)"/>
                </a:rPr>
                <a:t>Concluído</a:t>
              </a:r>
              <a:endParaRPr sz="1100" b="1" i="0" dirty="0">
                <a:solidFill>
                  <a:srgbClr val="1C1C1C"/>
                </a:solidFill>
                <a:latin typeface="Aptos (Corpo)"/>
              </a:endParaRPr>
            </a:p>
          </p:txBody>
        </p:sp>
        <p:sp>
          <p:nvSpPr>
            <p:cNvPr id="56" name="TextBox 31">
              <a:extLst>
                <a:ext uri="{FF2B5EF4-FFF2-40B4-BE49-F238E27FC236}">
                  <a16:creationId xmlns:a16="http://schemas.microsoft.com/office/drawing/2014/main" id="{04C5EA5F-FD75-4A25-A205-082BE928E0C7}"/>
                </a:ext>
              </a:extLst>
            </p:cNvPr>
            <p:cNvSpPr txBox="1"/>
            <p:nvPr/>
          </p:nvSpPr>
          <p:spPr>
            <a:xfrm>
              <a:off x="2002729" y="2291583"/>
              <a:ext cx="2738122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t-BR" sz="1400" b="1" i="0" noProof="0" dirty="0">
                  <a:solidFill>
                    <a:srgbClr val="0D1B3E"/>
                  </a:solidFill>
                  <a:latin typeface="Aptos (Corpo)"/>
                </a:rPr>
                <a:t>Linhas 8-Diamante e 9-Esmeralda</a:t>
              </a:r>
            </a:p>
          </p:txBody>
        </p:sp>
        <p:sp>
          <p:nvSpPr>
            <p:cNvPr id="58" name="TextBox 32">
              <a:extLst>
                <a:ext uri="{FF2B5EF4-FFF2-40B4-BE49-F238E27FC236}">
                  <a16:creationId xmlns:a16="http://schemas.microsoft.com/office/drawing/2014/main" id="{C4AAF215-7419-4D89-8580-944FE2DC12A2}"/>
                </a:ext>
              </a:extLst>
            </p:cNvPr>
            <p:cNvSpPr txBox="1"/>
            <p:nvPr/>
          </p:nvSpPr>
          <p:spPr>
            <a:xfrm>
              <a:off x="2002729" y="2548996"/>
              <a:ext cx="5865195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t-BR" sz="1200" b="0" i="0" noProof="0" dirty="0">
                  <a:solidFill>
                    <a:srgbClr val="4B5563"/>
                  </a:solidFill>
                  <a:latin typeface="Aptos (Corpo)"/>
                </a:rPr>
                <a:t>Linhas leiloadas; operação transferida em </a:t>
              </a:r>
              <a:r>
                <a:rPr lang="pt-BR" sz="1200" b="0" i="0" noProof="0" dirty="0" err="1">
                  <a:solidFill>
                    <a:srgbClr val="4B5563"/>
                  </a:solidFill>
                  <a:latin typeface="Aptos (Corpo)"/>
                </a:rPr>
                <a:t>jan</a:t>
              </a:r>
              <a:r>
                <a:rPr lang="pt-BR" sz="1200" b="0" i="0" noProof="0" dirty="0">
                  <a:solidFill>
                    <a:srgbClr val="4B5563"/>
                  </a:solidFill>
                  <a:latin typeface="Aptos (Corpo)"/>
                </a:rPr>
                <a:t>/2022</a:t>
              </a:r>
              <a:r>
                <a:rPr lang="pt-BR" sz="1200" b="1" i="0" noProof="0" dirty="0">
                  <a:solidFill>
                    <a:srgbClr val="1A3A6B"/>
                  </a:solidFill>
                  <a:latin typeface="Aptos (Corpo)"/>
                </a:rPr>
                <a:t> </a:t>
              </a:r>
              <a:r>
                <a:rPr lang="pt-BR" sz="1200" b="1" i="0" noProof="0" dirty="0" err="1">
                  <a:solidFill>
                    <a:srgbClr val="1A3A6B"/>
                  </a:solidFill>
                  <a:latin typeface="Aptos (Corpo)"/>
                </a:rPr>
                <a:t>ViaMobilidade</a:t>
              </a:r>
              <a:r>
                <a:rPr lang="pt-BR" sz="1200" b="1" i="0" noProof="0" dirty="0">
                  <a:solidFill>
                    <a:srgbClr val="1A3A6B"/>
                  </a:solidFill>
                  <a:latin typeface="Aptos (Corpo)"/>
                </a:rPr>
                <a:t> (Grupo Motiva/CCR)</a:t>
              </a:r>
            </a:p>
          </p:txBody>
        </p:sp>
      </p:grpSp>
      <p:sp>
        <p:nvSpPr>
          <p:cNvPr id="76" name="TextBox 41">
            <a:extLst>
              <a:ext uri="{FF2B5EF4-FFF2-40B4-BE49-F238E27FC236}">
                <a16:creationId xmlns:a16="http://schemas.microsoft.com/office/drawing/2014/main" id="{498E34B3-F4BB-47D5-B7FA-95CE50B15F76}"/>
              </a:ext>
            </a:extLst>
          </p:cNvPr>
          <p:cNvSpPr txBox="1"/>
          <p:nvPr/>
        </p:nvSpPr>
        <p:spPr>
          <a:xfrm>
            <a:off x="914377" y="5558507"/>
            <a:ext cx="49372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b="1" i="0" dirty="0">
                <a:solidFill>
                  <a:srgbClr val="0D1B3E"/>
                </a:solidFill>
                <a:latin typeface="Aptos (Corpo)"/>
              </a:rPr>
              <a:t>2026</a:t>
            </a:r>
          </a:p>
        </p:txBody>
      </p:sp>
      <p:sp>
        <p:nvSpPr>
          <p:cNvPr id="78" name="TextBox 42">
            <a:extLst>
              <a:ext uri="{FF2B5EF4-FFF2-40B4-BE49-F238E27FC236}">
                <a16:creationId xmlns:a16="http://schemas.microsoft.com/office/drawing/2014/main" id="{FFDABF42-D7D5-445D-A8BC-8B0D26362078}"/>
              </a:ext>
            </a:extLst>
          </p:cNvPr>
          <p:cNvSpPr txBox="1"/>
          <p:nvPr/>
        </p:nvSpPr>
        <p:spPr>
          <a:xfrm>
            <a:off x="887127" y="5886412"/>
            <a:ext cx="812134" cy="377024"/>
          </a:xfrm>
          <a:prstGeom prst="rect">
            <a:avLst/>
          </a:prstGeom>
          <a:solidFill>
            <a:srgbClr val="CC0000"/>
          </a:solidFill>
        </p:spPr>
        <p:txBody>
          <a:bodyPr wrap="square" lIns="76198" tIns="19049" rIns="76198" bIns="19049">
            <a:spAutoFit/>
          </a:bodyPr>
          <a:lstStyle/>
          <a:p>
            <a:pPr algn="l"/>
            <a:r>
              <a:rPr lang="pt-BR" sz="1100" b="1" i="0" noProof="0" dirty="0">
                <a:solidFill>
                  <a:srgbClr val="FFFFFF"/>
                </a:solidFill>
                <a:latin typeface="Aptos (Corpo)"/>
              </a:rPr>
              <a:t>Operação própria</a:t>
            </a:r>
          </a:p>
        </p:txBody>
      </p:sp>
      <p:sp>
        <p:nvSpPr>
          <p:cNvPr id="80" name="TextBox 43">
            <a:extLst>
              <a:ext uri="{FF2B5EF4-FFF2-40B4-BE49-F238E27FC236}">
                <a16:creationId xmlns:a16="http://schemas.microsoft.com/office/drawing/2014/main" id="{629A9C7F-EDDE-4111-9181-D3333F45B4EE}"/>
              </a:ext>
            </a:extLst>
          </p:cNvPr>
          <p:cNvSpPr txBox="1"/>
          <p:nvPr/>
        </p:nvSpPr>
        <p:spPr>
          <a:xfrm>
            <a:off x="2005672" y="5713451"/>
            <a:ext cx="148399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0D1B3E"/>
                </a:solidFill>
                <a:latin typeface="Aptos (Corpo)"/>
              </a:rPr>
              <a:t>Linha 10-Turquesa</a:t>
            </a:r>
          </a:p>
        </p:txBody>
      </p:sp>
      <p:sp>
        <p:nvSpPr>
          <p:cNvPr id="86" name="TextBox 28">
            <a:extLst>
              <a:ext uri="{FF2B5EF4-FFF2-40B4-BE49-F238E27FC236}">
                <a16:creationId xmlns:a16="http://schemas.microsoft.com/office/drawing/2014/main" id="{321226ED-A465-4159-9CA5-54A69B7F9694}"/>
              </a:ext>
            </a:extLst>
          </p:cNvPr>
          <p:cNvSpPr txBox="1"/>
          <p:nvPr/>
        </p:nvSpPr>
        <p:spPr>
          <a:xfrm>
            <a:off x="380990" y="1409828"/>
            <a:ext cx="1190479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sz="1400" b="0" i="1" noProof="0" dirty="0">
                <a:solidFill>
                  <a:srgbClr val="374151"/>
                </a:solidFill>
                <a:latin typeface="Aptos (Corpo)"/>
              </a:rPr>
              <a:t>A CPTM está no centro de uma das maiores transformações do transporte público paulista: a concessão progressiva de suas linhas à iniciativa privada.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7B9CFFED-56B0-5529-3287-903071BA7567}"/>
              </a:ext>
            </a:extLst>
          </p:cNvPr>
          <p:cNvGrpSpPr/>
          <p:nvPr/>
        </p:nvGrpSpPr>
        <p:grpSpPr>
          <a:xfrm>
            <a:off x="292500" y="3316036"/>
            <a:ext cx="5642780" cy="621696"/>
            <a:chOff x="292500" y="2193080"/>
            <a:chExt cx="5642780" cy="621696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61B4EB3-AED6-E1B2-F6F1-ACF1F24C122C}"/>
                </a:ext>
              </a:extLst>
            </p:cNvPr>
            <p:cNvSpPr/>
            <p:nvPr/>
          </p:nvSpPr>
          <p:spPr>
            <a:xfrm>
              <a:off x="292500" y="2306591"/>
              <a:ext cx="366078" cy="339637"/>
            </a:xfrm>
            <a:prstGeom prst="ellipse">
              <a:avLst/>
            </a:prstGeom>
            <a:solidFill>
              <a:srgbClr val="059669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23DE3D1-FA55-EBE1-07AA-566F0D56A1B6}"/>
                </a:ext>
              </a:extLst>
            </p:cNvPr>
            <p:cNvSpPr/>
            <p:nvPr/>
          </p:nvSpPr>
          <p:spPr>
            <a:xfrm>
              <a:off x="723900" y="2196364"/>
              <a:ext cx="69440" cy="618412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E43E5A55-D728-C4AD-506F-F823D2265C6E}"/>
                </a:ext>
              </a:extLst>
            </p:cNvPr>
            <p:cNvSpPr/>
            <p:nvPr/>
          </p:nvSpPr>
          <p:spPr>
            <a:xfrm>
              <a:off x="1852466" y="2193080"/>
              <a:ext cx="45719" cy="618412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3" name="TextBox 29">
              <a:extLst>
                <a:ext uri="{FF2B5EF4-FFF2-40B4-BE49-F238E27FC236}">
                  <a16:creationId xmlns:a16="http://schemas.microsoft.com/office/drawing/2014/main" id="{318ADAD5-D8C8-75A5-28EB-BAE0251E3F75}"/>
                </a:ext>
              </a:extLst>
            </p:cNvPr>
            <p:cNvSpPr txBox="1"/>
            <p:nvPr/>
          </p:nvSpPr>
          <p:spPr>
            <a:xfrm>
              <a:off x="914377" y="2282059"/>
              <a:ext cx="493725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b="1" i="0" dirty="0">
                  <a:solidFill>
                    <a:srgbClr val="0D1B3E"/>
                  </a:solidFill>
                  <a:latin typeface="Aptos (Corpo)"/>
                </a:rPr>
                <a:t>2025</a:t>
              </a:r>
            </a:p>
          </p:txBody>
        </p:sp>
        <p:sp>
          <p:nvSpPr>
            <p:cNvPr id="15" name="TextBox 30">
              <a:extLst>
                <a:ext uri="{FF2B5EF4-FFF2-40B4-BE49-F238E27FC236}">
                  <a16:creationId xmlns:a16="http://schemas.microsoft.com/office/drawing/2014/main" id="{DCA5D42E-AD99-858C-FF26-ECA01933CB80}"/>
                </a:ext>
              </a:extLst>
            </p:cNvPr>
            <p:cNvSpPr txBox="1"/>
            <p:nvPr/>
          </p:nvSpPr>
          <p:spPr>
            <a:xfrm>
              <a:off x="887127" y="2607029"/>
              <a:ext cx="817527" cy="207747"/>
            </a:xfrm>
            <a:prstGeom prst="rect">
              <a:avLst/>
            </a:prstGeom>
            <a:solidFill>
              <a:srgbClr val="059669"/>
            </a:solidFill>
          </p:spPr>
          <p:txBody>
            <a:bodyPr wrap="none" lIns="76198" tIns="19049" rIns="76198" bIns="19049">
              <a:spAutoFit/>
            </a:bodyPr>
            <a:lstStyle/>
            <a:p>
              <a:pPr algn="l"/>
              <a:r>
                <a:rPr lang="pt-BR" sz="1100" b="1" i="0" dirty="0">
                  <a:solidFill>
                    <a:srgbClr val="1C1C1C"/>
                  </a:solidFill>
                  <a:latin typeface="Aptos (Corpo)"/>
                </a:rPr>
                <a:t>Concluído</a:t>
              </a:r>
              <a:endParaRPr sz="1100" b="1" i="0" dirty="0">
                <a:solidFill>
                  <a:srgbClr val="1C1C1C"/>
                </a:solidFill>
                <a:latin typeface="Aptos (Corpo)"/>
              </a:endParaRPr>
            </a:p>
          </p:txBody>
        </p:sp>
        <p:sp>
          <p:nvSpPr>
            <p:cNvPr id="17" name="TextBox 31">
              <a:extLst>
                <a:ext uri="{FF2B5EF4-FFF2-40B4-BE49-F238E27FC236}">
                  <a16:creationId xmlns:a16="http://schemas.microsoft.com/office/drawing/2014/main" id="{8410E023-BA37-6A66-FE61-B28BDAC721E7}"/>
                </a:ext>
              </a:extLst>
            </p:cNvPr>
            <p:cNvSpPr txBox="1"/>
            <p:nvPr/>
          </p:nvSpPr>
          <p:spPr>
            <a:xfrm>
              <a:off x="2002729" y="2291583"/>
              <a:ext cx="110671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t-BR" sz="1400" b="1" i="0" noProof="0" dirty="0">
                  <a:solidFill>
                    <a:srgbClr val="0D1B3E"/>
                  </a:solidFill>
                  <a:latin typeface="Aptos (Corpo)"/>
                </a:rPr>
                <a:t>Linhas 7-Rubi</a:t>
              </a:r>
            </a:p>
          </p:txBody>
        </p:sp>
        <p:sp>
          <p:nvSpPr>
            <p:cNvPr id="18" name="TextBox 32">
              <a:extLst>
                <a:ext uri="{FF2B5EF4-FFF2-40B4-BE49-F238E27FC236}">
                  <a16:creationId xmlns:a16="http://schemas.microsoft.com/office/drawing/2014/main" id="{4A6D1507-EB55-83B0-2BEA-4BA62FF86D25}"/>
                </a:ext>
              </a:extLst>
            </p:cNvPr>
            <p:cNvSpPr txBox="1"/>
            <p:nvPr/>
          </p:nvSpPr>
          <p:spPr>
            <a:xfrm>
              <a:off x="2002729" y="2548996"/>
              <a:ext cx="3932551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t-BR" sz="1200" b="0" i="0" noProof="0" dirty="0">
                  <a:solidFill>
                    <a:srgbClr val="4B5563"/>
                  </a:solidFill>
                  <a:latin typeface="Aptos (Corpo)"/>
                </a:rPr>
                <a:t>Linha leiloada; operação transferida em </a:t>
              </a:r>
              <a:r>
                <a:rPr lang="pt-BR" sz="1200" b="0" i="0" noProof="0" dirty="0" err="1">
                  <a:solidFill>
                    <a:srgbClr val="4B5563"/>
                  </a:solidFill>
                  <a:latin typeface="Aptos (Corpo)"/>
                </a:rPr>
                <a:t>nov</a:t>
              </a:r>
              <a:r>
                <a:rPr lang="pt-BR" sz="1200" b="0" i="0" noProof="0" dirty="0">
                  <a:solidFill>
                    <a:srgbClr val="4B5563"/>
                  </a:solidFill>
                  <a:latin typeface="Aptos (Corpo)"/>
                </a:rPr>
                <a:t>/2025</a:t>
              </a:r>
              <a:r>
                <a:rPr lang="pt-BR" sz="1200" b="1" i="0" noProof="0" dirty="0">
                  <a:solidFill>
                    <a:srgbClr val="1A3A6B"/>
                  </a:solidFill>
                  <a:latin typeface="Aptos (Corpo)"/>
                </a:rPr>
                <a:t> </a:t>
              </a:r>
              <a:r>
                <a:rPr lang="pt-BR" sz="1200" b="1" i="0" noProof="0" dirty="0" err="1">
                  <a:solidFill>
                    <a:srgbClr val="1A3A6B"/>
                  </a:solidFill>
                  <a:latin typeface="Aptos (Corpo)"/>
                </a:rPr>
                <a:t>Tic</a:t>
              </a:r>
              <a:r>
                <a:rPr lang="pt-BR" sz="1200" b="1" i="0" noProof="0" dirty="0">
                  <a:solidFill>
                    <a:srgbClr val="1A3A6B"/>
                  </a:solidFill>
                  <a:latin typeface="Aptos (Corpo)"/>
                </a:rPr>
                <a:t> Trens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DB1AFBF1-06FB-2EEE-59EF-013CA645EE4A}"/>
              </a:ext>
            </a:extLst>
          </p:cNvPr>
          <p:cNvGrpSpPr/>
          <p:nvPr/>
        </p:nvGrpSpPr>
        <p:grpSpPr>
          <a:xfrm>
            <a:off x="276213" y="4442276"/>
            <a:ext cx="6402085" cy="619200"/>
            <a:chOff x="276213" y="4442276"/>
            <a:chExt cx="6402085" cy="619200"/>
          </a:xfrm>
        </p:grpSpPr>
        <p:sp>
          <p:nvSpPr>
            <p:cNvPr id="30" name="Oval 16">
              <a:extLst>
                <a:ext uri="{FF2B5EF4-FFF2-40B4-BE49-F238E27FC236}">
                  <a16:creationId xmlns:a16="http://schemas.microsoft.com/office/drawing/2014/main" id="{F89F4151-3A7F-40F0-A5FC-F7BF1B650963}"/>
                </a:ext>
              </a:extLst>
            </p:cNvPr>
            <p:cNvSpPr/>
            <p:nvPr/>
          </p:nvSpPr>
          <p:spPr>
            <a:xfrm>
              <a:off x="276213" y="4605344"/>
              <a:ext cx="367200" cy="338400"/>
            </a:xfrm>
            <a:prstGeom prst="ellipse">
              <a:avLst/>
            </a:prstGeom>
            <a:solidFill>
              <a:srgbClr val="FFB800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4" name="Rectangle 18">
              <a:extLst>
                <a:ext uri="{FF2B5EF4-FFF2-40B4-BE49-F238E27FC236}">
                  <a16:creationId xmlns:a16="http://schemas.microsoft.com/office/drawing/2014/main" id="{7B2B1F06-C3CF-4185-8F2F-FC71DFD1C594}"/>
                </a:ext>
              </a:extLst>
            </p:cNvPr>
            <p:cNvSpPr/>
            <p:nvPr/>
          </p:nvSpPr>
          <p:spPr>
            <a:xfrm>
              <a:off x="691164" y="4442276"/>
              <a:ext cx="68400" cy="619200"/>
            </a:xfrm>
            <a:prstGeom prst="rect">
              <a:avLst/>
            </a:prstGeom>
            <a:solidFill>
              <a:srgbClr val="FFB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70" name="TextBox 38">
              <a:extLst>
                <a:ext uri="{FF2B5EF4-FFF2-40B4-BE49-F238E27FC236}">
                  <a16:creationId xmlns:a16="http://schemas.microsoft.com/office/drawing/2014/main" id="{EFACE7C4-8342-483A-AAA5-EAE9BE60DE05}"/>
                </a:ext>
              </a:extLst>
            </p:cNvPr>
            <p:cNvSpPr txBox="1"/>
            <p:nvPr/>
          </p:nvSpPr>
          <p:spPr>
            <a:xfrm>
              <a:off x="887127" y="4779396"/>
              <a:ext cx="812134" cy="207747"/>
            </a:xfrm>
            <a:prstGeom prst="rect">
              <a:avLst/>
            </a:prstGeom>
            <a:solidFill>
              <a:srgbClr val="0D1B3E"/>
            </a:solidFill>
          </p:spPr>
          <p:txBody>
            <a:bodyPr wrap="square" lIns="76198" tIns="19049" rIns="76198" bIns="19049">
              <a:spAutoFit/>
            </a:bodyPr>
            <a:lstStyle/>
            <a:p>
              <a:pPr algn="l"/>
              <a:r>
                <a:rPr lang="pt-BR" sz="1100" b="1" i="0" noProof="0" dirty="0">
                  <a:solidFill>
                    <a:srgbClr val="FFB800"/>
                  </a:solidFill>
                  <a:latin typeface="Aptos (Corpo)"/>
                </a:rPr>
                <a:t>Recente</a:t>
              </a:r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96CEF5BE-BA7B-21EE-8347-7960E7D1FC31}"/>
                </a:ext>
              </a:extLst>
            </p:cNvPr>
            <p:cNvSpPr/>
            <p:nvPr/>
          </p:nvSpPr>
          <p:spPr>
            <a:xfrm>
              <a:off x="1866661" y="4471429"/>
              <a:ext cx="45719" cy="515714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5" name="TextBox 29">
              <a:extLst>
                <a:ext uri="{FF2B5EF4-FFF2-40B4-BE49-F238E27FC236}">
                  <a16:creationId xmlns:a16="http://schemas.microsoft.com/office/drawing/2014/main" id="{23652ECE-BDFF-4119-2AA5-7E05F09CCF8C}"/>
                </a:ext>
              </a:extLst>
            </p:cNvPr>
            <p:cNvSpPr txBox="1"/>
            <p:nvPr/>
          </p:nvSpPr>
          <p:spPr>
            <a:xfrm>
              <a:off x="914376" y="4474877"/>
              <a:ext cx="493725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b="1" i="0" dirty="0">
                  <a:solidFill>
                    <a:srgbClr val="0D1B3E"/>
                  </a:solidFill>
                  <a:latin typeface="Aptos (Corpo)"/>
                </a:rPr>
                <a:t>2026</a:t>
              </a:r>
            </a:p>
          </p:txBody>
        </p:sp>
        <p:sp>
          <p:nvSpPr>
            <p:cNvPr id="28" name="TextBox 31">
              <a:extLst>
                <a:ext uri="{FF2B5EF4-FFF2-40B4-BE49-F238E27FC236}">
                  <a16:creationId xmlns:a16="http://schemas.microsoft.com/office/drawing/2014/main" id="{28AC0C6C-5CC9-2D1B-701A-9075359647B4}"/>
                </a:ext>
              </a:extLst>
            </p:cNvPr>
            <p:cNvSpPr txBox="1"/>
            <p:nvPr/>
          </p:nvSpPr>
          <p:spPr>
            <a:xfrm>
              <a:off x="2005672" y="4580387"/>
              <a:ext cx="2808910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t-BR" sz="1400" b="1" i="0" noProof="0" dirty="0">
                  <a:solidFill>
                    <a:srgbClr val="0D1B3E"/>
                  </a:solidFill>
                  <a:latin typeface="Aptos (Corpo)"/>
                </a:rPr>
                <a:t>Linhas 11-Coral, 12-Safira, 13-Jade</a:t>
              </a:r>
            </a:p>
          </p:txBody>
        </p:sp>
        <p:sp>
          <p:nvSpPr>
            <p:cNvPr id="31" name="TextBox 32">
              <a:extLst>
                <a:ext uri="{FF2B5EF4-FFF2-40B4-BE49-F238E27FC236}">
                  <a16:creationId xmlns:a16="http://schemas.microsoft.com/office/drawing/2014/main" id="{B2401553-44A3-7F48-230C-1B7B7E05D36A}"/>
                </a:ext>
              </a:extLst>
            </p:cNvPr>
            <p:cNvSpPr txBox="1"/>
            <p:nvPr/>
          </p:nvSpPr>
          <p:spPr>
            <a:xfrm>
              <a:off x="2005672" y="4843950"/>
              <a:ext cx="4672626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t-BR" sz="1200" b="0" i="0" noProof="0" dirty="0">
                  <a:solidFill>
                    <a:srgbClr val="4B5563"/>
                  </a:solidFill>
                  <a:latin typeface="Aptos (Corpo)"/>
                </a:rPr>
                <a:t>Linha leiloada; operação assistida (período de transição) – </a:t>
              </a:r>
              <a:r>
                <a:rPr lang="pt-BR" sz="1200" b="1" dirty="0">
                  <a:solidFill>
                    <a:srgbClr val="1A3A6B"/>
                  </a:solidFill>
                  <a:latin typeface="Aptos (Corpo)"/>
                </a:rPr>
                <a:t>Trivia Trens</a:t>
              </a:r>
            </a:p>
          </p:txBody>
        </p:sp>
      </p:grpSp>
      <p:sp>
        <p:nvSpPr>
          <p:cNvPr id="35" name="Rectangle 9">
            <a:extLst>
              <a:ext uri="{FF2B5EF4-FFF2-40B4-BE49-F238E27FC236}">
                <a16:creationId xmlns:a16="http://schemas.microsoft.com/office/drawing/2014/main" id="{700ED838-6D1A-CB19-DA58-76AEC7275B5E}"/>
              </a:ext>
            </a:extLst>
          </p:cNvPr>
          <p:cNvSpPr/>
          <p:nvPr/>
        </p:nvSpPr>
        <p:spPr>
          <a:xfrm>
            <a:off x="1829607" y="5565232"/>
            <a:ext cx="45719" cy="69820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C865A810-CF60-05CA-52C6-28BE359D1ED0}"/>
              </a:ext>
            </a:extLst>
          </p:cNvPr>
          <p:cNvSpPr txBox="1"/>
          <p:nvPr/>
        </p:nvSpPr>
        <p:spPr>
          <a:xfrm>
            <a:off x="1883388" y="5966906"/>
            <a:ext cx="61443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0" i="0" noProof="0" dirty="0">
                <a:solidFill>
                  <a:srgbClr val="4B5563"/>
                </a:solidFill>
                <a:latin typeface="Aptos (Corpo)"/>
              </a:rPr>
              <a:t>Linha sob gestão da CPTM</a:t>
            </a:r>
            <a:endParaRPr lang="pt-BR" sz="1200" b="1" dirty="0">
              <a:solidFill>
                <a:srgbClr val="1A3A6B"/>
              </a:solidFill>
              <a:latin typeface="Aptos (Corpo)"/>
            </a:endParaRPr>
          </a:p>
        </p:txBody>
      </p:sp>
    </p:spTree>
    <p:extLst>
      <p:ext uri="{BB962C8B-B14F-4D97-AF65-F5344CB8AC3E}">
        <p14:creationId xmlns:p14="http://schemas.microsoft.com/office/powerpoint/2010/main" val="2929955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CA370-7988-42D1-A2BD-01F329FDE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74F8DF9-BFE0-497E-996D-A20FFD0569A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162898DF-4F54-48B7-BA7D-5E5E3A35C208}"/>
              </a:ext>
            </a:extLst>
          </p:cNvPr>
          <p:cNvSpPr/>
          <p:nvPr/>
        </p:nvSpPr>
        <p:spPr>
          <a:xfrm>
            <a:off x="342900" y="1454314"/>
            <a:ext cx="5695950" cy="1722536"/>
          </a:xfrm>
          <a:prstGeom prst="roundRect">
            <a:avLst>
              <a:gd name="adj" fmla="val 33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63A1E7-656A-4923-80F4-998282F2D08B}"/>
              </a:ext>
            </a:extLst>
          </p:cNvPr>
          <p:cNvSpPr/>
          <p:nvPr/>
        </p:nvSpPr>
        <p:spPr>
          <a:xfrm>
            <a:off x="342900" y="1454314"/>
            <a:ext cx="50800" cy="172253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D509DB70-74E2-4052-A901-A121640458E9}"/>
              </a:ext>
            </a:extLst>
          </p:cNvPr>
          <p:cNvSpPr/>
          <p:nvPr/>
        </p:nvSpPr>
        <p:spPr>
          <a:xfrm>
            <a:off x="495299" y="1540039"/>
            <a:ext cx="247649" cy="247649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52E33F8D-3B48-4320-B409-783D72DF22BB}"/>
              </a:ext>
            </a:extLst>
          </p:cNvPr>
          <p:cNvSpPr/>
          <p:nvPr/>
        </p:nvSpPr>
        <p:spPr>
          <a:xfrm>
            <a:off x="342900" y="3272101"/>
            <a:ext cx="5695950" cy="1722536"/>
          </a:xfrm>
          <a:prstGeom prst="roundRect">
            <a:avLst>
              <a:gd name="adj" fmla="val 33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30DA486F-35EE-40F1-AF67-C83ACE31C9F8}"/>
              </a:ext>
            </a:extLst>
          </p:cNvPr>
          <p:cNvSpPr/>
          <p:nvPr/>
        </p:nvSpPr>
        <p:spPr>
          <a:xfrm>
            <a:off x="342900" y="3272101"/>
            <a:ext cx="50800" cy="172253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4" name="Oval 9">
            <a:extLst>
              <a:ext uri="{FF2B5EF4-FFF2-40B4-BE49-F238E27FC236}">
                <a16:creationId xmlns:a16="http://schemas.microsoft.com/office/drawing/2014/main" id="{FBC95826-8BFA-440F-9901-4043C979A543}"/>
              </a:ext>
            </a:extLst>
          </p:cNvPr>
          <p:cNvSpPr/>
          <p:nvPr/>
        </p:nvSpPr>
        <p:spPr>
          <a:xfrm>
            <a:off x="495299" y="3357826"/>
            <a:ext cx="247649" cy="247649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09DA2E83-5A94-45D4-BDA9-F9717DADB29B}"/>
              </a:ext>
            </a:extLst>
          </p:cNvPr>
          <p:cNvSpPr/>
          <p:nvPr/>
        </p:nvSpPr>
        <p:spPr>
          <a:xfrm>
            <a:off x="342900" y="5089888"/>
            <a:ext cx="5695950" cy="1378418"/>
          </a:xfrm>
          <a:prstGeom prst="roundRect">
            <a:avLst>
              <a:gd name="adj" fmla="val 33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226E28A0-7D8D-44AC-8918-286B98EDFD18}"/>
              </a:ext>
            </a:extLst>
          </p:cNvPr>
          <p:cNvSpPr/>
          <p:nvPr/>
        </p:nvSpPr>
        <p:spPr>
          <a:xfrm>
            <a:off x="342900" y="5089888"/>
            <a:ext cx="50800" cy="137841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0" name="Oval 12">
            <a:extLst>
              <a:ext uri="{FF2B5EF4-FFF2-40B4-BE49-F238E27FC236}">
                <a16:creationId xmlns:a16="http://schemas.microsoft.com/office/drawing/2014/main" id="{A32E917C-821F-4DBA-A494-0A103A490747}"/>
              </a:ext>
            </a:extLst>
          </p:cNvPr>
          <p:cNvSpPr/>
          <p:nvPr/>
        </p:nvSpPr>
        <p:spPr>
          <a:xfrm>
            <a:off x="495299" y="5175613"/>
            <a:ext cx="247649" cy="247649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2" name="Rounded Rectangle 13">
            <a:extLst>
              <a:ext uri="{FF2B5EF4-FFF2-40B4-BE49-F238E27FC236}">
                <a16:creationId xmlns:a16="http://schemas.microsoft.com/office/drawing/2014/main" id="{46AF86DA-8930-4F5F-924F-DF1DC7145CDC}"/>
              </a:ext>
            </a:extLst>
          </p:cNvPr>
          <p:cNvSpPr/>
          <p:nvPr/>
        </p:nvSpPr>
        <p:spPr>
          <a:xfrm>
            <a:off x="6153150" y="1454314"/>
            <a:ext cx="5695950" cy="1722536"/>
          </a:xfrm>
          <a:prstGeom prst="roundRect">
            <a:avLst>
              <a:gd name="adj" fmla="val 33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D47007A7-5E0C-4D34-AF9F-5D2612112B56}"/>
              </a:ext>
            </a:extLst>
          </p:cNvPr>
          <p:cNvSpPr/>
          <p:nvPr/>
        </p:nvSpPr>
        <p:spPr>
          <a:xfrm>
            <a:off x="6153150" y="1454314"/>
            <a:ext cx="50800" cy="172253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6" name="Oval 15">
            <a:extLst>
              <a:ext uri="{FF2B5EF4-FFF2-40B4-BE49-F238E27FC236}">
                <a16:creationId xmlns:a16="http://schemas.microsoft.com/office/drawing/2014/main" id="{E4A8021F-165B-48A8-A01F-3C312AFB6F9B}"/>
              </a:ext>
            </a:extLst>
          </p:cNvPr>
          <p:cNvSpPr/>
          <p:nvPr/>
        </p:nvSpPr>
        <p:spPr>
          <a:xfrm>
            <a:off x="6305550" y="1540039"/>
            <a:ext cx="247649" cy="247649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8" name="Rounded Rectangle 16">
            <a:extLst>
              <a:ext uri="{FF2B5EF4-FFF2-40B4-BE49-F238E27FC236}">
                <a16:creationId xmlns:a16="http://schemas.microsoft.com/office/drawing/2014/main" id="{CE1A18DD-6084-4733-9D2B-5E6B47283F7A}"/>
              </a:ext>
            </a:extLst>
          </p:cNvPr>
          <p:cNvSpPr/>
          <p:nvPr/>
        </p:nvSpPr>
        <p:spPr>
          <a:xfrm>
            <a:off x="6153150" y="3272101"/>
            <a:ext cx="5695950" cy="1722536"/>
          </a:xfrm>
          <a:prstGeom prst="roundRect">
            <a:avLst>
              <a:gd name="adj" fmla="val 33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0" name="Rectangle 17">
            <a:extLst>
              <a:ext uri="{FF2B5EF4-FFF2-40B4-BE49-F238E27FC236}">
                <a16:creationId xmlns:a16="http://schemas.microsoft.com/office/drawing/2014/main" id="{E5797DAB-1D81-4EDE-9A6B-433597D06EAE}"/>
              </a:ext>
            </a:extLst>
          </p:cNvPr>
          <p:cNvSpPr/>
          <p:nvPr/>
        </p:nvSpPr>
        <p:spPr>
          <a:xfrm>
            <a:off x="6153150" y="3272101"/>
            <a:ext cx="50800" cy="172253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2" name="Oval 18">
            <a:extLst>
              <a:ext uri="{FF2B5EF4-FFF2-40B4-BE49-F238E27FC236}">
                <a16:creationId xmlns:a16="http://schemas.microsoft.com/office/drawing/2014/main" id="{7CEEA20D-C249-4FFB-96C6-A34664F981CA}"/>
              </a:ext>
            </a:extLst>
          </p:cNvPr>
          <p:cNvSpPr/>
          <p:nvPr/>
        </p:nvSpPr>
        <p:spPr>
          <a:xfrm>
            <a:off x="6305550" y="3357826"/>
            <a:ext cx="247649" cy="247649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atin typeface="Aptos (Corpo)"/>
            </a:endParaRPr>
          </a:p>
        </p:txBody>
      </p:sp>
      <p:sp>
        <p:nvSpPr>
          <p:cNvPr id="34" name="Rounded Rectangle 19">
            <a:extLst>
              <a:ext uri="{FF2B5EF4-FFF2-40B4-BE49-F238E27FC236}">
                <a16:creationId xmlns:a16="http://schemas.microsoft.com/office/drawing/2014/main" id="{C9786D56-DFAB-4951-9F46-3D569B581953}"/>
              </a:ext>
            </a:extLst>
          </p:cNvPr>
          <p:cNvSpPr/>
          <p:nvPr/>
        </p:nvSpPr>
        <p:spPr>
          <a:xfrm>
            <a:off x="6153150" y="5089888"/>
            <a:ext cx="5695950" cy="1378418"/>
          </a:xfrm>
          <a:prstGeom prst="roundRect">
            <a:avLst>
              <a:gd name="adj" fmla="val 33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6" name="Rectangle 20">
            <a:extLst>
              <a:ext uri="{FF2B5EF4-FFF2-40B4-BE49-F238E27FC236}">
                <a16:creationId xmlns:a16="http://schemas.microsoft.com/office/drawing/2014/main" id="{DAED96C3-A758-48AA-A288-377C1F156A6C}"/>
              </a:ext>
            </a:extLst>
          </p:cNvPr>
          <p:cNvSpPr/>
          <p:nvPr/>
        </p:nvSpPr>
        <p:spPr>
          <a:xfrm>
            <a:off x="6153150" y="5089888"/>
            <a:ext cx="50800" cy="137841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8" name="Oval 21">
            <a:extLst>
              <a:ext uri="{FF2B5EF4-FFF2-40B4-BE49-F238E27FC236}">
                <a16:creationId xmlns:a16="http://schemas.microsoft.com/office/drawing/2014/main" id="{3E057C7B-2340-4685-99F1-6A79430694F5}"/>
              </a:ext>
            </a:extLst>
          </p:cNvPr>
          <p:cNvSpPr/>
          <p:nvPr/>
        </p:nvSpPr>
        <p:spPr>
          <a:xfrm>
            <a:off x="6305550" y="5175613"/>
            <a:ext cx="247649" cy="247649"/>
          </a:xfrm>
          <a:prstGeom prst="ellips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0" name="TextBox 23">
            <a:extLst>
              <a:ext uri="{FF2B5EF4-FFF2-40B4-BE49-F238E27FC236}">
                <a16:creationId xmlns:a16="http://schemas.microsoft.com/office/drawing/2014/main" id="{3955E47B-E2A8-4601-A791-406368DD3C65}"/>
              </a:ext>
            </a:extLst>
          </p:cNvPr>
          <p:cNvSpPr txBox="1"/>
          <p:nvPr/>
        </p:nvSpPr>
        <p:spPr>
          <a:xfrm>
            <a:off x="342891" y="365080"/>
            <a:ext cx="312765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sz="1400" b="1" i="0" dirty="0">
                <a:solidFill>
                  <a:srgbClr val="CC0000"/>
                </a:solidFill>
                <a:latin typeface="Aptos (Corpo)"/>
              </a:rPr>
              <a:t>ESTRUTURA ORGANIZACIONAL · CPTM</a:t>
            </a:r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0CBD03E4-11BC-45B3-B647-C485DC5F5BA4}"/>
              </a:ext>
            </a:extLst>
          </p:cNvPr>
          <p:cNvSpPr txBox="1"/>
          <p:nvPr/>
        </p:nvSpPr>
        <p:spPr>
          <a:xfrm>
            <a:off x="342891" y="701586"/>
            <a:ext cx="521617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b="1" i="0" noProof="0" dirty="0">
                <a:solidFill>
                  <a:srgbClr val="0D1B3E"/>
                </a:solidFill>
                <a:latin typeface="Aptos (Corpo)"/>
              </a:rPr>
              <a:t>Gerência de Logística (GOL) — Papel e Atribuições</a:t>
            </a:r>
          </a:p>
        </p:txBody>
      </p:sp>
      <p:sp>
        <p:nvSpPr>
          <p:cNvPr id="44" name="TextBox 25">
            <a:extLst>
              <a:ext uri="{FF2B5EF4-FFF2-40B4-BE49-F238E27FC236}">
                <a16:creationId xmlns:a16="http://schemas.microsoft.com/office/drawing/2014/main" id="{2D5C79D2-CD47-4792-8D22-AECC26EB1320}"/>
              </a:ext>
            </a:extLst>
          </p:cNvPr>
          <p:cNvSpPr txBox="1"/>
          <p:nvPr/>
        </p:nvSpPr>
        <p:spPr>
          <a:xfrm>
            <a:off x="342891" y="1076420"/>
            <a:ext cx="897798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0" i="0">
                <a:solidFill>
                  <a:srgbClr val="FFFFFF"/>
                </a:solidFill>
                <a:latin typeface="Open Sans"/>
              </a:rPr>
              <a:t>A Gerência de Logística (GOL) é responsável por garantir que os materiais corretos estejam disponíveis no momento certo, em quantidade adequada e no menor custo possível.</a:t>
            </a: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25C31860-37F7-4D7F-B150-A59C304AC8DD}"/>
              </a:ext>
            </a:extLst>
          </p:cNvPr>
          <p:cNvSpPr txBox="1"/>
          <p:nvPr/>
        </p:nvSpPr>
        <p:spPr>
          <a:xfrm>
            <a:off x="596637" y="1592395"/>
            <a:ext cx="6893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Aptos (Corpo)"/>
              </a:rPr>
              <a:t>1</a:t>
            </a:r>
          </a:p>
        </p:txBody>
      </p:sp>
      <p:sp>
        <p:nvSpPr>
          <p:cNvPr id="48" name="TextBox 27">
            <a:extLst>
              <a:ext uri="{FF2B5EF4-FFF2-40B4-BE49-F238E27FC236}">
                <a16:creationId xmlns:a16="http://schemas.microsoft.com/office/drawing/2014/main" id="{EEE3170E-D4E9-4D28-A007-C7DFAB8EFD98}"/>
              </a:ext>
            </a:extLst>
          </p:cNvPr>
          <p:cNvSpPr txBox="1"/>
          <p:nvPr/>
        </p:nvSpPr>
        <p:spPr>
          <a:xfrm>
            <a:off x="838179" y="1530484"/>
            <a:ext cx="162615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0D1B3E"/>
                </a:solidFill>
                <a:latin typeface="Aptos (Corpo)"/>
              </a:rPr>
              <a:t>Gestão de Estoques</a:t>
            </a:r>
          </a:p>
        </p:txBody>
      </p:sp>
      <p:sp>
        <p:nvSpPr>
          <p:cNvPr id="50" name="TextBox 28">
            <a:extLst>
              <a:ext uri="{FF2B5EF4-FFF2-40B4-BE49-F238E27FC236}">
                <a16:creationId xmlns:a16="http://schemas.microsoft.com/office/drawing/2014/main" id="{ED276D1C-592E-4127-946A-6A8FDDA7BFA2}"/>
              </a:ext>
            </a:extLst>
          </p:cNvPr>
          <p:cNvSpPr txBox="1"/>
          <p:nvPr/>
        </p:nvSpPr>
        <p:spPr>
          <a:xfrm>
            <a:off x="828288" y="1829215"/>
            <a:ext cx="4725174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pt-BR" sz="1400" b="0" i="0" noProof="0" dirty="0">
                <a:solidFill>
                  <a:srgbClr val="374151"/>
                </a:solidFill>
                <a:latin typeface="Aptos (Corpo)"/>
              </a:rPr>
              <a:t>Materiais, ferramentas e equipamentos de manutenção ferroviária, serviços administrativos, EPIs, </a:t>
            </a:r>
            <a:r>
              <a:rPr lang="pt-BR" sz="1400" b="0" i="0" noProof="0" dirty="0" err="1">
                <a:solidFill>
                  <a:srgbClr val="374151"/>
                </a:solidFill>
                <a:latin typeface="Aptos (Corpo)"/>
              </a:rPr>
              <a:t>EPCs</a:t>
            </a:r>
            <a:r>
              <a:rPr lang="pt-BR" sz="1400" b="0" i="0" noProof="0" dirty="0">
                <a:solidFill>
                  <a:srgbClr val="374151"/>
                </a:solidFill>
                <a:latin typeface="Aptos (Corpo)"/>
              </a:rPr>
              <a:t>, Uniformes, etc.</a:t>
            </a:r>
          </a:p>
        </p:txBody>
      </p:sp>
      <p:sp>
        <p:nvSpPr>
          <p:cNvPr id="52" name="TextBox 29">
            <a:extLst>
              <a:ext uri="{FF2B5EF4-FFF2-40B4-BE49-F238E27FC236}">
                <a16:creationId xmlns:a16="http://schemas.microsoft.com/office/drawing/2014/main" id="{BA2807E7-87E8-43F0-9692-15CDE821C6F0}"/>
              </a:ext>
            </a:extLst>
          </p:cNvPr>
          <p:cNvSpPr txBox="1"/>
          <p:nvPr/>
        </p:nvSpPr>
        <p:spPr>
          <a:xfrm>
            <a:off x="585326" y="3410136"/>
            <a:ext cx="6893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Aptos (Corpo)"/>
              </a:rPr>
              <a:t>2</a:t>
            </a:r>
          </a:p>
        </p:txBody>
      </p:sp>
      <p:sp>
        <p:nvSpPr>
          <p:cNvPr id="54" name="TextBox 30">
            <a:extLst>
              <a:ext uri="{FF2B5EF4-FFF2-40B4-BE49-F238E27FC236}">
                <a16:creationId xmlns:a16="http://schemas.microsoft.com/office/drawing/2014/main" id="{79799DD1-9DC2-41EB-96E5-096FEAFD9F89}"/>
              </a:ext>
            </a:extLst>
          </p:cNvPr>
          <p:cNvSpPr txBox="1"/>
          <p:nvPr/>
        </p:nvSpPr>
        <p:spPr>
          <a:xfrm>
            <a:off x="838179" y="3348225"/>
            <a:ext cx="2256900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0D1B3E"/>
                </a:solidFill>
                <a:latin typeface="Aptos (Corpo)"/>
              </a:rPr>
              <a:t>Operação de Almoxarifados</a:t>
            </a:r>
          </a:p>
        </p:txBody>
      </p:sp>
      <p:sp>
        <p:nvSpPr>
          <p:cNvPr id="56" name="TextBox 31">
            <a:extLst>
              <a:ext uri="{FF2B5EF4-FFF2-40B4-BE49-F238E27FC236}">
                <a16:creationId xmlns:a16="http://schemas.microsoft.com/office/drawing/2014/main" id="{876649F1-B484-4846-9C25-42EED91BCDD8}"/>
              </a:ext>
            </a:extLst>
          </p:cNvPr>
          <p:cNvSpPr txBox="1"/>
          <p:nvPr/>
        </p:nvSpPr>
        <p:spPr>
          <a:xfrm>
            <a:off x="828288" y="3696598"/>
            <a:ext cx="4715283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pt-BR" sz="1400" b="0" i="0" noProof="0" dirty="0">
                <a:solidFill>
                  <a:srgbClr val="374151"/>
                </a:solidFill>
                <a:latin typeface="Aptos (Corpo)"/>
              </a:rPr>
              <a:t>Recebimento, armazenagem, movimentação, distribuição e inventário de materiais.</a:t>
            </a:r>
          </a:p>
        </p:txBody>
      </p:sp>
      <p:sp>
        <p:nvSpPr>
          <p:cNvPr id="58" name="TextBox 32">
            <a:extLst>
              <a:ext uri="{FF2B5EF4-FFF2-40B4-BE49-F238E27FC236}">
                <a16:creationId xmlns:a16="http://schemas.microsoft.com/office/drawing/2014/main" id="{3E97CF79-88BC-4BF1-A170-A25092702544}"/>
              </a:ext>
            </a:extLst>
          </p:cNvPr>
          <p:cNvSpPr txBox="1"/>
          <p:nvPr/>
        </p:nvSpPr>
        <p:spPr>
          <a:xfrm>
            <a:off x="585177" y="5227877"/>
            <a:ext cx="6893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Aptos (Corpo)"/>
              </a:rPr>
              <a:t>3</a:t>
            </a:r>
          </a:p>
        </p:txBody>
      </p:sp>
      <p:sp>
        <p:nvSpPr>
          <p:cNvPr id="60" name="TextBox 33">
            <a:extLst>
              <a:ext uri="{FF2B5EF4-FFF2-40B4-BE49-F238E27FC236}">
                <a16:creationId xmlns:a16="http://schemas.microsoft.com/office/drawing/2014/main" id="{597CF074-D163-440C-8A4F-4D375AE5EA1F}"/>
              </a:ext>
            </a:extLst>
          </p:cNvPr>
          <p:cNvSpPr txBox="1"/>
          <p:nvPr/>
        </p:nvSpPr>
        <p:spPr>
          <a:xfrm>
            <a:off x="838179" y="5165966"/>
            <a:ext cx="385111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0D1B3E"/>
                </a:solidFill>
                <a:latin typeface="Aptos (Corpo)"/>
              </a:rPr>
              <a:t>Controle de Contratos e Previsão de Demandas</a:t>
            </a:r>
          </a:p>
        </p:txBody>
      </p:sp>
      <p:sp>
        <p:nvSpPr>
          <p:cNvPr id="62" name="TextBox 34">
            <a:extLst>
              <a:ext uri="{FF2B5EF4-FFF2-40B4-BE49-F238E27FC236}">
                <a16:creationId xmlns:a16="http://schemas.microsoft.com/office/drawing/2014/main" id="{4C949299-5E1D-44CB-9110-F88C4F105A29}"/>
              </a:ext>
            </a:extLst>
          </p:cNvPr>
          <p:cNvSpPr txBox="1"/>
          <p:nvPr/>
        </p:nvSpPr>
        <p:spPr>
          <a:xfrm>
            <a:off x="828287" y="5473263"/>
            <a:ext cx="4715283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pt-BR" sz="1400" b="0" i="0" noProof="0" dirty="0">
                <a:solidFill>
                  <a:srgbClr val="374151"/>
                </a:solidFill>
                <a:latin typeface="Aptos (Corpo)"/>
              </a:rPr>
              <a:t>Análise de demandas, planejamento de compras, pesquisa de preços e gestão de contratos.</a:t>
            </a:r>
          </a:p>
        </p:txBody>
      </p:sp>
      <p:sp>
        <p:nvSpPr>
          <p:cNvPr id="64" name="TextBox 35">
            <a:extLst>
              <a:ext uri="{FF2B5EF4-FFF2-40B4-BE49-F238E27FC236}">
                <a16:creationId xmlns:a16="http://schemas.microsoft.com/office/drawing/2014/main" id="{E0E551D0-7F8B-436D-855B-CA0FA1F98559}"/>
              </a:ext>
            </a:extLst>
          </p:cNvPr>
          <p:cNvSpPr txBox="1"/>
          <p:nvPr/>
        </p:nvSpPr>
        <p:spPr>
          <a:xfrm>
            <a:off x="6389775" y="1592395"/>
            <a:ext cx="6893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Aptos (Corpo)"/>
              </a:rPr>
              <a:t>4</a:t>
            </a:r>
            <a:endParaRPr sz="791" b="1" i="0" dirty="0">
              <a:solidFill>
                <a:srgbClr val="FFFFFF"/>
              </a:solidFill>
              <a:latin typeface="Aptos (Corpo)"/>
            </a:endParaRPr>
          </a:p>
        </p:txBody>
      </p:sp>
      <p:sp>
        <p:nvSpPr>
          <p:cNvPr id="66" name="TextBox 36">
            <a:extLst>
              <a:ext uri="{FF2B5EF4-FFF2-40B4-BE49-F238E27FC236}">
                <a16:creationId xmlns:a16="http://schemas.microsoft.com/office/drawing/2014/main" id="{FF727E40-2268-42F1-9D28-77FCE306757F}"/>
              </a:ext>
            </a:extLst>
          </p:cNvPr>
          <p:cNvSpPr txBox="1"/>
          <p:nvPr/>
        </p:nvSpPr>
        <p:spPr>
          <a:xfrm>
            <a:off x="6648283" y="1530484"/>
            <a:ext cx="281615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0D1B3E"/>
                </a:solidFill>
                <a:latin typeface="Aptos (Corpo)"/>
              </a:rPr>
              <a:t>Qualidade e Inspeção de Materiais</a:t>
            </a:r>
          </a:p>
        </p:txBody>
      </p:sp>
      <p:sp>
        <p:nvSpPr>
          <p:cNvPr id="68" name="TextBox 37">
            <a:extLst>
              <a:ext uri="{FF2B5EF4-FFF2-40B4-BE49-F238E27FC236}">
                <a16:creationId xmlns:a16="http://schemas.microsoft.com/office/drawing/2014/main" id="{BCE3EE6D-70FB-44EB-80C2-893ADC7679F4}"/>
              </a:ext>
            </a:extLst>
          </p:cNvPr>
          <p:cNvSpPr txBox="1"/>
          <p:nvPr/>
        </p:nvSpPr>
        <p:spPr>
          <a:xfrm>
            <a:off x="6648283" y="1829588"/>
            <a:ext cx="4833881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pt-BR" sz="1400" b="0" i="0" noProof="0" dirty="0">
                <a:solidFill>
                  <a:srgbClr val="374151"/>
                </a:solidFill>
                <a:latin typeface="Aptos (Corpo)"/>
              </a:rPr>
              <a:t>Verificação, inspeção e controle da conformidade dos materiais recebidos e em estoque.</a:t>
            </a:r>
          </a:p>
        </p:txBody>
      </p:sp>
      <p:sp>
        <p:nvSpPr>
          <p:cNvPr id="70" name="TextBox 38">
            <a:extLst>
              <a:ext uri="{FF2B5EF4-FFF2-40B4-BE49-F238E27FC236}">
                <a16:creationId xmlns:a16="http://schemas.microsoft.com/office/drawing/2014/main" id="{3402568A-EA7A-4EC4-BA04-3F48C89A725C}"/>
              </a:ext>
            </a:extLst>
          </p:cNvPr>
          <p:cNvSpPr txBox="1"/>
          <p:nvPr/>
        </p:nvSpPr>
        <p:spPr>
          <a:xfrm>
            <a:off x="6395133" y="3410136"/>
            <a:ext cx="6893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Aptos (Corpo)"/>
              </a:rPr>
              <a:t>5</a:t>
            </a:r>
          </a:p>
        </p:txBody>
      </p:sp>
      <p:sp>
        <p:nvSpPr>
          <p:cNvPr id="72" name="TextBox 39">
            <a:extLst>
              <a:ext uri="{FF2B5EF4-FFF2-40B4-BE49-F238E27FC236}">
                <a16:creationId xmlns:a16="http://schemas.microsoft.com/office/drawing/2014/main" id="{37D7C515-3662-4F55-93E6-8BAF47BEAB5C}"/>
              </a:ext>
            </a:extLst>
          </p:cNvPr>
          <p:cNvSpPr txBox="1"/>
          <p:nvPr/>
        </p:nvSpPr>
        <p:spPr>
          <a:xfrm>
            <a:off x="6648283" y="3348225"/>
            <a:ext cx="374974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0D1B3E"/>
                </a:solidFill>
                <a:latin typeface="Aptos (Corpo)"/>
              </a:rPr>
              <a:t>Gestão e Controle de Processos e Indicadores</a:t>
            </a:r>
          </a:p>
        </p:txBody>
      </p:sp>
      <p:sp>
        <p:nvSpPr>
          <p:cNvPr id="74" name="TextBox 40">
            <a:extLst>
              <a:ext uri="{FF2B5EF4-FFF2-40B4-BE49-F238E27FC236}">
                <a16:creationId xmlns:a16="http://schemas.microsoft.com/office/drawing/2014/main" id="{C0EECDA8-87E0-4E00-ABBB-E923463A92C0}"/>
              </a:ext>
            </a:extLst>
          </p:cNvPr>
          <p:cNvSpPr txBox="1"/>
          <p:nvPr/>
        </p:nvSpPr>
        <p:spPr>
          <a:xfrm>
            <a:off x="6648283" y="3696598"/>
            <a:ext cx="4833881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pt-BR" sz="1400" b="0" i="0" noProof="0" dirty="0">
                <a:solidFill>
                  <a:srgbClr val="374151"/>
                </a:solidFill>
                <a:latin typeface="Aptos (Corpo)"/>
              </a:rPr>
              <a:t>Padronização de processos logísticos e acompanhamento de KPIs de desempenho.</a:t>
            </a:r>
          </a:p>
        </p:txBody>
      </p:sp>
      <p:sp>
        <p:nvSpPr>
          <p:cNvPr id="76" name="TextBox 41">
            <a:extLst>
              <a:ext uri="{FF2B5EF4-FFF2-40B4-BE49-F238E27FC236}">
                <a16:creationId xmlns:a16="http://schemas.microsoft.com/office/drawing/2014/main" id="{EBA3B98C-1D50-4EF7-A9B1-5C81C781C9FA}"/>
              </a:ext>
            </a:extLst>
          </p:cNvPr>
          <p:cNvSpPr txBox="1"/>
          <p:nvPr/>
        </p:nvSpPr>
        <p:spPr>
          <a:xfrm>
            <a:off x="6392752" y="5227877"/>
            <a:ext cx="6893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i="0" dirty="0">
                <a:solidFill>
                  <a:srgbClr val="0D1B3E"/>
                </a:solidFill>
                <a:latin typeface="Aptos (Corpo)"/>
              </a:rPr>
              <a:t>6</a:t>
            </a:r>
            <a:endParaRPr sz="791" b="1" i="0" dirty="0">
              <a:solidFill>
                <a:srgbClr val="0D1B3E"/>
              </a:solidFill>
              <a:latin typeface="Aptos (Corpo)"/>
            </a:endParaRPr>
          </a:p>
        </p:txBody>
      </p:sp>
      <p:sp>
        <p:nvSpPr>
          <p:cNvPr id="78" name="TextBox 42">
            <a:extLst>
              <a:ext uri="{FF2B5EF4-FFF2-40B4-BE49-F238E27FC236}">
                <a16:creationId xmlns:a16="http://schemas.microsoft.com/office/drawing/2014/main" id="{45A07D7E-72A3-4A19-8981-E7398D8A39DD}"/>
              </a:ext>
            </a:extLst>
          </p:cNvPr>
          <p:cNvSpPr txBox="1"/>
          <p:nvPr/>
        </p:nvSpPr>
        <p:spPr>
          <a:xfrm>
            <a:off x="6648283" y="5165966"/>
            <a:ext cx="237263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400" b="1" i="0" dirty="0">
                <a:solidFill>
                  <a:srgbClr val="1A3A6B"/>
                </a:solidFill>
                <a:latin typeface="Aptos (Corpo)"/>
              </a:rPr>
              <a:t>Sistema ERP ALVO (RIOSOFT)</a:t>
            </a:r>
          </a:p>
        </p:txBody>
      </p:sp>
      <p:sp>
        <p:nvSpPr>
          <p:cNvPr id="80" name="TextBox 43">
            <a:extLst>
              <a:ext uri="{FF2B5EF4-FFF2-40B4-BE49-F238E27FC236}">
                <a16:creationId xmlns:a16="http://schemas.microsoft.com/office/drawing/2014/main" id="{4E1E9DDD-4495-485E-96D9-3E4D9A3F3DB2}"/>
              </a:ext>
            </a:extLst>
          </p:cNvPr>
          <p:cNvSpPr txBox="1"/>
          <p:nvPr/>
        </p:nvSpPr>
        <p:spPr>
          <a:xfrm>
            <a:off x="6648282" y="5475812"/>
            <a:ext cx="4833881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pt-BR" sz="1400" b="0" i="0" noProof="0" dirty="0">
                <a:solidFill>
                  <a:srgbClr val="374151"/>
                </a:solidFill>
                <a:latin typeface="Aptos (Corpo)"/>
              </a:rPr>
              <a:t>Plataforma integrada e unificada de gestão orçamentária, compras, contratos, notas fiscais, serviços contábeis, atividades financeiras, controle de estoque e gestão de materiais.</a:t>
            </a:r>
          </a:p>
        </p:txBody>
      </p:sp>
    </p:spTree>
    <p:extLst>
      <p:ext uri="{BB962C8B-B14F-4D97-AF65-F5344CB8AC3E}">
        <p14:creationId xmlns:p14="http://schemas.microsoft.com/office/powerpoint/2010/main" val="4277419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2AD42-008E-4F6F-A5D2-F344B61FF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B6CC945-6277-4FDB-B229-5DB0614196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785BD01-DEC9-4970-ABE1-E29037989C02}"/>
              </a:ext>
            </a:extLst>
          </p:cNvPr>
          <p:cNvSpPr/>
          <p:nvPr/>
        </p:nvSpPr>
        <p:spPr>
          <a:xfrm>
            <a:off x="381000" y="1691861"/>
            <a:ext cx="11430000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831C94D1-C9E5-40C6-A8B5-383C938DC1A4}"/>
              </a:ext>
            </a:extLst>
          </p:cNvPr>
          <p:cNvSpPr/>
          <p:nvPr/>
        </p:nvSpPr>
        <p:spPr>
          <a:xfrm>
            <a:off x="381000" y="1844261"/>
            <a:ext cx="11430000" cy="2225739"/>
          </a:xfrm>
          <a:prstGeom prst="roundRect">
            <a:avLst>
              <a:gd name="adj" fmla="val 1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C9DFEEE6-2EFA-4D80-84B6-8A131BC4BC37}"/>
              </a:ext>
            </a:extLst>
          </p:cNvPr>
          <p:cNvSpPr/>
          <p:nvPr/>
        </p:nvSpPr>
        <p:spPr>
          <a:xfrm>
            <a:off x="381000" y="1844261"/>
            <a:ext cx="11430000" cy="572541"/>
          </a:xfrm>
          <a:prstGeom prst="rect">
            <a:avLst/>
          </a:prstGeom>
          <a:solidFill>
            <a:srgbClr val="0D1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atin typeface="Aptos (Corpo)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79E08E4C-CAB1-4A7E-B823-667AD2E531B8}"/>
              </a:ext>
            </a:extLst>
          </p:cNvPr>
          <p:cNvSpPr/>
          <p:nvPr/>
        </p:nvSpPr>
        <p:spPr>
          <a:xfrm>
            <a:off x="381000" y="2416803"/>
            <a:ext cx="11430000" cy="371475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pic>
        <p:nvPicPr>
          <p:cNvPr id="12" name="Picture 6" descr="image.png">
            <a:extLst>
              <a:ext uri="{FF2B5EF4-FFF2-40B4-BE49-F238E27FC236}">
                <a16:creationId xmlns:a16="http://schemas.microsoft.com/office/drawing/2014/main" id="{29D9434B-2DF8-4696-ABB9-31EACC11F142}"/>
              </a:ext>
            </a:extLst>
          </p:cNvPr>
          <p:cNvPicPr preferRelativeResize="0"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259" y="2537421"/>
            <a:ext cx="198186" cy="157782"/>
          </a:xfrm>
          <a:prstGeom prst="rect">
            <a:avLst/>
          </a:prstGeom>
        </p:spPr>
      </p:pic>
      <p:sp>
        <p:nvSpPr>
          <p:cNvPr id="22" name="TextBox 13">
            <a:extLst>
              <a:ext uri="{FF2B5EF4-FFF2-40B4-BE49-F238E27FC236}">
                <a16:creationId xmlns:a16="http://schemas.microsoft.com/office/drawing/2014/main" id="{67AF4586-D0F6-4DFB-B32C-5798EDABEB69}"/>
              </a:ext>
            </a:extLst>
          </p:cNvPr>
          <p:cNvSpPr txBox="1"/>
          <p:nvPr/>
        </p:nvSpPr>
        <p:spPr>
          <a:xfrm>
            <a:off x="380990" y="501370"/>
            <a:ext cx="253704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sz="1400" b="1" i="0" dirty="0">
                <a:solidFill>
                  <a:srgbClr val="CC0000"/>
                </a:solidFill>
                <a:latin typeface="Aptos (Corpo)"/>
              </a:rPr>
              <a:t>GERÊNCIA DE LOGÍSTICA · GOL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F90BB0DF-9607-42D7-9EC5-74FA3524AB4B}"/>
              </a:ext>
            </a:extLst>
          </p:cNvPr>
          <p:cNvSpPr txBox="1"/>
          <p:nvPr/>
        </p:nvSpPr>
        <p:spPr>
          <a:xfrm>
            <a:off x="380990" y="998076"/>
            <a:ext cx="5041277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pt-BR" b="1" i="0" noProof="0" dirty="0">
                <a:solidFill>
                  <a:srgbClr val="0D1B3E"/>
                </a:solidFill>
                <a:latin typeface="Aptos (Corpo)"/>
              </a:rPr>
              <a:t>DOLA — Departamento de Almoxarifados</a:t>
            </a: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8DE2BD9D-9A0F-49ED-9244-571D6BEA797C}"/>
              </a:ext>
            </a:extLst>
          </p:cNvPr>
          <p:cNvSpPr txBox="1"/>
          <p:nvPr/>
        </p:nvSpPr>
        <p:spPr>
          <a:xfrm>
            <a:off x="380990" y="1415618"/>
            <a:ext cx="519233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pt-BR" sz="1400" b="0" i="0" dirty="0">
                <a:solidFill>
                  <a:srgbClr val="4B5563"/>
                </a:solidFill>
                <a:latin typeface="Aptos (Corpo)"/>
              </a:rPr>
              <a:t>Atribuições do departamento e suas instalações.</a:t>
            </a:r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15ECCFF5-29F0-4581-8BF9-021AC4E7804B}"/>
              </a:ext>
            </a:extLst>
          </p:cNvPr>
          <p:cNvSpPr txBox="1"/>
          <p:nvPr/>
        </p:nvSpPr>
        <p:spPr>
          <a:xfrm>
            <a:off x="552436" y="1939480"/>
            <a:ext cx="46474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Aptos (Corpo)"/>
              </a:rPr>
              <a:t>DOLA</a:t>
            </a:r>
          </a:p>
        </p:txBody>
      </p:sp>
      <p:sp>
        <p:nvSpPr>
          <p:cNvPr id="30" name="TextBox 17">
            <a:extLst>
              <a:ext uri="{FF2B5EF4-FFF2-40B4-BE49-F238E27FC236}">
                <a16:creationId xmlns:a16="http://schemas.microsoft.com/office/drawing/2014/main" id="{E526D961-C3E1-41ED-B3B0-0BBBD8BFEC07}"/>
              </a:ext>
            </a:extLst>
          </p:cNvPr>
          <p:cNvSpPr txBox="1"/>
          <p:nvPr/>
        </p:nvSpPr>
        <p:spPr>
          <a:xfrm>
            <a:off x="552436" y="2178640"/>
            <a:ext cx="265046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FFB800"/>
                </a:solidFill>
                <a:latin typeface="Aptos (Corpo)"/>
              </a:rPr>
              <a:t>Departamento de Almoxarifados</a:t>
            </a:r>
          </a:p>
        </p:txBody>
      </p:sp>
      <p:sp>
        <p:nvSpPr>
          <p:cNvPr id="32" name="TextBox 18">
            <a:extLst>
              <a:ext uri="{FF2B5EF4-FFF2-40B4-BE49-F238E27FC236}">
                <a16:creationId xmlns:a16="http://schemas.microsoft.com/office/drawing/2014/main" id="{B140FEB2-46FA-421F-ADAA-7B8A23E564A8}"/>
              </a:ext>
            </a:extLst>
          </p:cNvPr>
          <p:cNvSpPr txBox="1"/>
          <p:nvPr/>
        </p:nvSpPr>
        <p:spPr>
          <a:xfrm>
            <a:off x="670983" y="2456002"/>
            <a:ext cx="9500000" cy="369328"/>
          </a:xfrm>
          <a:prstGeom prst="rect">
            <a:avLst/>
          </a:prstGeom>
          <a:noFill/>
        </p:spPr>
        <p:txBody>
          <a:bodyPr wrap="square" lIns="171445" tIns="76198" rIns="171445" bIns="76198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1A3A6B"/>
                </a:solidFill>
                <a:latin typeface="Aptos (Corpo)"/>
              </a:rPr>
              <a:t>Almoxarifado  ·  Qualidade  ·  Inspeção de Materiais</a:t>
            </a:r>
          </a:p>
        </p:txBody>
      </p:sp>
      <p:sp>
        <p:nvSpPr>
          <p:cNvPr id="40" name="TextBox 24">
            <a:extLst>
              <a:ext uri="{FF2B5EF4-FFF2-40B4-BE49-F238E27FC236}">
                <a16:creationId xmlns:a16="http://schemas.microsoft.com/office/drawing/2014/main" id="{E1F1C68C-CC34-4FBA-8DF8-2C5ED65AC478}"/>
              </a:ext>
            </a:extLst>
          </p:cNvPr>
          <p:cNvSpPr txBox="1"/>
          <p:nvPr/>
        </p:nvSpPr>
        <p:spPr>
          <a:xfrm>
            <a:off x="552436" y="2948242"/>
            <a:ext cx="10700000" cy="12776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9035" indent="-179035" algn="l">
              <a:lnSpc>
                <a:spcPts val="1322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ct val="99999"/>
              <a:buFont typeface="Open Sans" charset="0"/>
              <a:buChar char="●"/>
            </a:pPr>
            <a:r>
              <a:rPr lang="pt-BR" sz="1400" b="0" i="0" noProof="0" dirty="0">
                <a:solidFill>
                  <a:srgbClr val="1F2937"/>
                </a:solidFill>
                <a:latin typeface="Aptos (Corpo)"/>
              </a:rPr>
              <a:t>Responsável pelo recebimento, armazenamento, movimentação nos almoxarifados e distribuição de materiais para as áreas usuárias</a:t>
            </a:r>
          </a:p>
          <a:p>
            <a:pPr marL="179035" indent="-179035" algn="l">
              <a:lnSpc>
                <a:spcPts val="1322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ct val="99999"/>
              <a:buFont typeface="Open Sans" charset="0"/>
              <a:buChar char="●"/>
            </a:pPr>
            <a:endParaRPr lang="pt-BR" sz="1400" b="0" i="0" noProof="0" dirty="0">
              <a:solidFill>
                <a:srgbClr val="1F2937"/>
              </a:solidFill>
              <a:latin typeface="Aptos (Corpo)"/>
            </a:endParaRPr>
          </a:p>
          <a:p>
            <a:pPr marL="179035" indent="-179035" algn="l">
              <a:lnSpc>
                <a:spcPts val="1322"/>
              </a:lnSpc>
              <a:spcBef>
                <a:spcPts val="749"/>
              </a:spcBef>
              <a:spcAft>
                <a:spcPts val="0"/>
              </a:spcAft>
              <a:buClr>
                <a:srgbClr val="0D1B3E"/>
              </a:buClr>
              <a:buSzPct val="99999"/>
              <a:buFont typeface="Open Sans" charset="0"/>
              <a:buChar char="●"/>
            </a:pPr>
            <a:r>
              <a:rPr lang="pt-BR" sz="1400" b="0" i="0" noProof="0" dirty="0">
                <a:solidFill>
                  <a:srgbClr val="1F2937"/>
                </a:solidFill>
                <a:latin typeface="Aptos (Corpo)"/>
              </a:rPr>
              <a:t>Gestão do ciclo de vida dos materiais: entrada, saída, descarte e leilão de inservíveis</a:t>
            </a:r>
          </a:p>
          <a:p>
            <a:pPr marL="179035" indent="-179035" algn="l">
              <a:lnSpc>
                <a:spcPts val="1322"/>
              </a:lnSpc>
              <a:spcBef>
                <a:spcPts val="749"/>
              </a:spcBef>
              <a:spcAft>
                <a:spcPts val="0"/>
              </a:spcAft>
              <a:buClr>
                <a:srgbClr val="0D1B3E"/>
              </a:buClr>
              <a:buSzPct val="99999"/>
              <a:buFont typeface="Open Sans" charset="0"/>
              <a:buChar char="●"/>
            </a:pPr>
            <a:endParaRPr lang="pt-BR" sz="1400" b="0" i="0" noProof="0" dirty="0">
              <a:solidFill>
                <a:srgbClr val="1F2937"/>
              </a:solidFill>
              <a:latin typeface="Aptos (Corpo)"/>
            </a:endParaRPr>
          </a:p>
          <a:p>
            <a:pPr marL="179035" indent="-179035" algn="l">
              <a:lnSpc>
                <a:spcPts val="1322"/>
              </a:lnSpc>
              <a:spcBef>
                <a:spcPts val="749"/>
              </a:spcBef>
              <a:spcAft>
                <a:spcPts val="0"/>
              </a:spcAft>
              <a:buClr>
                <a:srgbClr val="0D1B3E"/>
              </a:buClr>
              <a:buSzPct val="99999"/>
              <a:buFont typeface="Open Sans" charset="0"/>
              <a:buChar char="●"/>
            </a:pPr>
            <a:r>
              <a:rPr lang="pt-BR" sz="1400" b="0" i="0" noProof="0" dirty="0">
                <a:solidFill>
                  <a:srgbClr val="1F2937"/>
                </a:solidFill>
                <a:latin typeface="Aptos (Corpo)"/>
              </a:rPr>
              <a:t>Elaboração e gestão de contratos de serviços associados (leilão de inservíveis, descarte de resíduos e controle e gestão de licenças de produtos controlados)</a:t>
            </a:r>
          </a:p>
        </p:txBody>
      </p:sp>
      <p:sp>
        <p:nvSpPr>
          <p:cNvPr id="70" name="TextBox Legenda"/>
          <p:cNvSpPr txBox="1"/>
          <p:nvPr/>
        </p:nvSpPr>
        <p:spPr>
          <a:xfrm>
            <a:off x="381000" y="4524960"/>
            <a:ext cx="60000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pt-BR" sz="1400" b="1" i="0" noProof="0" dirty="0">
                <a:solidFill>
                  <a:srgbClr val="CC0000"/>
                </a:solidFill>
                <a:latin typeface="Aptos (Corpo)"/>
              </a:rPr>
              <a:t>Instalações do DOLA</a:t>
            </a:r>
          </a:p>
        </p:txBody>
      </p:sp>
      <p:pic>
        <p:nvPicPr>
          <p:cNvPr id="60" name="Foto DOLA 1" descr="Instalacoes do DOL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829782"/>
            <a:ext cx="2743200" cy="1600200"/>
          </a:xfrm>
          <a:prstGeom prst="roundRect">
            <a:avLst>
              <a:gd name="adj" fmla="val 3000"/>
            </a:avLst>
          </a:prstGeom>
        </p:spPr>
      </p:pic>
      <p:pic>
        <p:nvPicPr>
          <p:cNvPr id="61" name="Foto DOLA 2" descr="Instalacoes do DOL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4834960"/>
            <a:ext cx="2743200" cy="1600200"/>
          </a:xfrm>
          <a:prstGeom prst="roundRect">
            <a:avLst>
              <a:gd name="adj" fmla="val 3000"/>
            </a:avLst>
          </a:prstGeom>
        </p:spPr>
      </p:pic>
      <p:pic>
        <p:nvPicPr>
          <p:cNvPr id="62" name="Foto DOLA 3" descr="Instalacoes do DOL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00" y="4820306"/>
            <a:ext cx="2743200" cy="1600200"/>
          </a:xfrm>
          <a:prstGeom prst="roundRect">
            <a:avLst>
              <a:gd name="adj" fmla="val 3000"/>
            </a:avLst>
          </a:prstGeom>
        </p:spPr>
      </p:pic>
      <p:pic>
        <p:nvPicPr>
          <p:cNvPr id="63" name="Foto DOLA 4" descr="Instalacoes do DOLA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7800" y="4834960"/>
            <a:ext cx="2743200" cy="1600200"/>
          </a:xfrm>
          <a:prstGeom prst="roundRect">
            <a:avLst>
              <a:gd name="adj" fmla="val 3000"/>
            </a:avLst>
          </a:prstGeom>
        </p:spPr>
      </p:pic>
    </p:spTree>
    <p:extLst>
      <p:ext uri="{BB962C8B-B14F-4D97-AF65-F5344CB8AC3E}">
        <p14:creationId xmlns:p14="http://schemas.microsoft.com/office/powerpoint/2010/main" val="277726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82182-C45A-45C8-99E8-9760C4DE2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4B9FD67-3D6D-46D0-9B0C-40B3D1A64D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C644449-8290-4458-A512-7CE4BF89613B}"/>
              </a:ext>
            </a:extLst>
          </p:cNvPr>
          <p:cNvSpPr/>
          <p:nvPr/>
        </p:nvSpPr>
        <p:spPr>
          <a:xfrm>
            <a:off x="381000" y="1691861"/>
            <a:ext cx="11430000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8F3FFB4E-C855-40DF-B610-51CA1DE6E48D}"/>
              </a:ext>
            </a:extLst>
          </p:cNvPr>
          <p:cNvSpPr/>
          <p:nvPr/>
        </p:nvSpPr>
        <p:spPr>
          <a:xfrm>
            <a:off x="381000" y="1844261"/>
            <a:ext cx="11430000" cy="4275739"/>
          </a:xfrm>
          <a:prstGeom prst="roundRect">
            <a:avLst>
              <a:gd name="adj" fmla="val 1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9B84A0DB-21C8-477F-8C3A-02647B59D38E}"/>
              </a:ext>
            </a:extLst>
          </p:cNvPr>
          <p:cNvSpPr/>
          <p:nvPr/>
        </p:nvSpPr>
        <p:spPr>
          <a:xfrm>
            <a:off x="381000" y="1844261"/>
            <a:ext cx="11430000" cy="572541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7E733DC7-C464-43FC-98AB-5EC41BB5610B}"/>
              </a:ext>
            </a:extLst>
          </p:cNvPr>
          <p:cNvSpPr/>
          <p:nvPr/>
        </p:nvSpPr>
        <p:spPr>
          <a:xfrm>
            <a:off x="381000" y="2416803"/>
            <a:ext cx="11430000" cy="371475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20" name="Picture 10" descr="image.png">
            <a:extLst>
              <a:ext uri="{FF2B5EF4-FFF2-40B4-BE49-F238E27FC236}">
                <a16:creationId xmlns:a16="http://schemas.microsoft.com/office/drawing/2014/main" id="{BDC0661A-D14E-453E-BCF3-B68E732AE79C}"/>
              </a:ext>
            </a:extLst>
          </p:cNvPr>
          <p:cNvPicPr preferRelativeResize="0"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236" y="2570718"/>
            <a:ext cx="158400" cy="158400"/>
          </a:xfrm>
          <a:prstGeom prst="rect">
            <a:avLst/>
          </a:prstGeom>
        </p:spPr>
      </p:pic>
      <p:sp>
        <p:nvSpPr>
          <p:cNvPr id="22" name="TextBox 13">
            <a:extLst>
              <a:ext uri="{FF2B5EF4-FFF2-40B4-BE49-F238E27FC236}">
                <a16:creationId xmlns:a16="http://schemas.microsoft.com/office/drawing/2014/main" id="{4032232F-FD76-4969-ACF1-A39268AAC66A}"/>
              </a:ext>
            </a:extLst>
          </p:cNvPr>
          <p:cNvSpPr txBox="1"/>
          <p:nvPr/>
        </p:nvSpPr>
        <p:spPr>
          <a:xfrm>
            <a:off x="380990" y="501370"/>
            <a:ext cx="253704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sz="1400" b="1" i="0" dirty="0">
                <a:solidFill>
                  <a:srgbClr val="CC0000"/>
                </a:solidFill>
                <a:latin typeface="Aptos (Corpo)"/>
              </a:rPr>
              <a:t>GERÊNCIA DE LOGÍSTICA · GOL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E9A04162-A9E2-4BA5-9815-6F200CA64566}"/>
              </a:ext>
            </a:extLst>
          </p:cNvPr>
          <p:cNvSpPr txBox="1"/>
          <p:nvPr/>
        </p:nvSpPr>
        <p:spPr>
          <a:xfrm>
            <a:off x="380990" y="998076"/>
            <a:ext cx="673101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pt-BR" b="1" i="0" noProof="0" dirty="0">
                <a:solidFill>
                  <a:srgbClr val="0D1B3E"/>
                </a:solidFill>
                <a:latin typeface="Aptos (Corpo)"/>
              </a:rPr>
              <a:t>DOLM — Departamento de Gestão e Cadastro de Materiais</a:t>
            </a: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4EA24B00-6FF6-4A83-B730-BDCA83C077EF}"/>
              </a:ext>
            </a:extLst>
          </p:cNvPr>
          <p:cNvSpPr txBox="1"/>
          <p:nvPr/>
        </p:nvSpPr>
        <p:spPr>
          <a:xfrm>
            <a:off x="380990" y="1415618"/>
            <a:ext cx="606045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pt-BR" sz="1400" b="0" i="0" noProof="0" dirty="0">
                <a:solidFill>
                  <a:srgbClr val="4B5563"/>
                </a:solidFill>
                <a:latin typeface="Aptos (Corpo)"/>
              </a:rPr>
              <a:t>Planejamento de demandas, compras, contratos e inventário de materiais.</a:t>
            </a:r>
          </a:p>
        </p:txBody>
      </p:sp>
      <p:sp>
        <p:nvSpPr>
          <p:cNvPr id="34" name="TextBox 19">
            <a:extLst>
              <a:ext uri="{FF2B5EF4-FFF2-40B4-BE49-F238E27FC236}">
                <a16:creationId xmlns:a16="http://schemas.microsoft.com/office/drawing/2014/main" id="{809D49DE-F404-4B04-BEEC-F06D4E047AF9}"/>
              </a:ext>
            </a:extLst>
          </p:cNvPr>
          <p:cNvSpPr txBox="1"/>
          <p:nvPr/>
        </p:nvSpPr>
        <p:spPr>
          <a:xfrm>
            <a:off x="552436" y="1939480"/>
            <a:ext cx="49853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Aptos (Corpo)"/>
              </a:rPr>
              <a:t>DOLM</a:t>
            </a: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ADADE024-3877-4C23-8DAD-5CA41B5552DF}"/>
              </a:ext>
            </a:extLst>
          </p:cNvPr>
          <p:cNvSpPr txBox="1"/>
          <p:nvPr/>
        </p:nvSpPr>
        <p:spPr>
          <a:xfrm>
            <a:off x="552436" y="2178640"/>
            <a:ext cx="4021550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FFF8E1"/>
                </a:solidFill>
                <a:latin typeface="Aptos (Corpo)"/>
              </a:rPr>
              <a:t>Departamento de Gestão e Cadastro de Materiais</a:t>
            </a:r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BA604943-A2B3-4FA7-8EA3-F4405AD3F8DA}"/>
              </a:ext>
            </a:extLst>
          </p:cNvPr>
          <p:cNvSpPr txBox="1"/>
          <p:nvPr/>
        </p:nvSpPr>
        <p:spPr>
          <a:xfrm>
            <a:off x="651436" y="2480643"/>
            <a:ext cx="9500000" cy="369328"/>
          </a:xfrm>
          <a:prstGeom prst="rect">
            <a:avLst/>
          </a:prstGeom>
          <a:noFill/>
        </p:spPr>
        <p:txBody>
          <a:bodyPr wrap="square" lIns="171445" tIns="76198" rIns="171445" bIns="76198">
            <a:spAutoFit/>
          </a:bodyPr>
          <a:lstStyle/>
          <a:p>
            <a:pPr algn="l"/>
            <a:r>
              <a:rPr lang="pt-BR" sz="1400" b="1" i="0" noProof="0" dirty="0">
                <a:solidFill>
                  <a:srgbClr val="1A3A6B"/>
                </a:solidFill>
                <a:latin typeface="Aptos (Corpo)"/>
              </a:rPr>
              <a:t>Análise de Demanda e Planejamento  ·  Contratos  ·  Inventário de Materiais</a:t>
            </a:r>
          </a:p>
        </p:txBody>
      </p:sp>
      <p:sp>
        <p:nvSpPr>
          <p:cNvPr id="42" name="TextBox 25">
            <a:extLst>
              <a:ext uri="{FF2B5EF4-FFF2-40B4-BE49-F238E27FC236}">
                <a16:creationId xmlns:a16="http://schemas.microsoft.com/office/drawing/2014/main" id="{14C32A99-51E9-44A6-9A19-D5582A21C9C3}"/>
              </a:ext>
            </a:extLst>
          </p:cNvPr>
          <p:cNvSpPr txBox="1"/>
          <p:nvPr/>
        </p:nvSpPr>
        <p:spPr>
          <a:xfrm>
            <a:off x="552436" y="3250000"/>
            <a:ext cx="10700000" cy="19156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9035" indent="-179035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ct val="99999"/>
              <a:buFont typeface="Open Sans" charset="0"/>
              <a:buChar char="●"/>
            </a:pPr>
            <a:r>
              <a:rPr lang="pt-BR" sz="1400" b="0" i="0" noProof="0" dirty="0">
                <a:solidFill>
                  <a:srgbClr val="1F2937"/>
                </a:solidFill>
                <a:latin typeface="Aptos (Corpo)"/>
              </a:rPr>
              <a:t>Identificação de demandas, planejamento, pesquisa de preços e elaboração do processo de compras e contratações de materiais</a:t>
            </a:r>
          </a:p>
          <a:p>
            <a:pPr marL="179035" indent="-179035" algn="l">
              <a:lnSpc>
                <a:spcPts val="1750"/>
              </a:lnSpc>
              <a:spcBef>
                <a:spcPts val="2600"/>
              </a:spcBef>
              <a:spcAft>
                <a:spcPts val="0"/>
              </a:spcAft>
              <a:buClr>
                <a:srgbClr val="CC0000"/>
              </a:buClr>
              <a:buSzPct val="99999"/>
              <a:buFont typeface="Open Sans" charset="0"/>
              <a:buChar char="●"/>
            </a:pPr>
            <a:r>
              <a:rPr lang="pt-BR" sz="1400" b="0" i="0" noProof="0" dirty="0">
                <a:solidFill>
                  <a:srgbClr val="1F2937"/>
                </a:solidFill>
                <a:latin typeface="Aptos (Corpo)"/>
              </a:rPr>
              <a:t>Processos licitatórios e controle contratual conforme normativas de empresa pública</a:t>
            </a:r>
          </a:p>
          <a:p>
            <a:pPr marL="179035" indent="-179035" algn="l">
              <a:lnSpc>
                <a:spcPts val="1750"/>
              </a:lnSpc>
              <a:spcBef>
                <a:spcPts val="2600"/>
              </a:spcBef>
              <a:spcAft>
                <a:spcPts val="0"/>
              </a:spcAft>
              <a:buClr>
                <a:srgbClr val="CC0000"/>
              </a:buClr>
              <a:buSzPct val="99999"/>
              <a:buFont typeface="Open Sans" charset="0"/>
              <a:buChar char="●"/>
            </a:pPr>
            <a:r>
              <a:rPr lang="pt-BR" sz="1400" b="0" i="0" noProof="0" dirty="0">
                <a:solidFill>
                  <a:srgbClr val="1F2937"/>
                </a:solidFill>
                <a:latin typeface="Aptos (Corpo)"/>
              </a:rPr>
              <a:t>Gestão de contratos de fornecimento de materiais — Interface com fornecedores</a:t>
            </a:r>
          </a:p>
          <a:p>
            <a:pPr marL="179035" indent="-179035" algn="l">
              <a:lnSpc>
                <a:spcPts val="1750"/>
              </a:lnSpc>
              <a:spcBef>
                <a:spcPts val="2600"/>
              </a:spcBef>
              <a:spcAft>
                <a:spcPts val="0"/>
              </a:spcAft>
              <a:buClr>
                <a:srgbClr val="CC0000"/>
              </a:buClr>
              <a:buSzPct val="99999"/>
              <a:buFont typeface="Open Sans" charset="0"/>
              <a:buChar char="●"/>
            </a:pPr>
            <a:r>
              <a:rPr lang="pt-BR" sz="1400" b="0" i="0" noProof="0" dirty="0">
                <a:solidFill>
                  <a:srgbClr val="1F2937"/>
                </a:solidFill>
                <a:latin typeface="Aptos (Corpo)"/>
              </a:rPr>
              <a:t>Realização do inventário rotativo de materiais e análise da acuracidade do estoque</a:t>
            </a:r>
          </a:p>
        </p:txBody>
      </p:sp>
    </p:spTree>
    <p:extLst>
      <p:ext uri="{BB962C8B-B14F-4D97-AF65-F5344CB8AC3E}">
        <p14:creationId xmlns:p14="http://schemas.microsoft.com/office/powerpoint/2010/main" val="2842819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30" dirty="0">
                <a:solidFill>
                  <a:srgbClr val="D71920"/>
                </a:solidFill>
              </a:rPr>
              <a:t>PONTO DE PARTIDA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0B1F3A"/>
                </a:solidFill>
              </a:rPr>
              <a:t>O desafio em uma frase</a:t>
            </a:r>
            <a:endParaRPr lang="pt-BR" sz="1800" noProof="0" dirty="0"/>
          </a:p>
        </p:txBody>
      </p:sp>
      <p:sp>
        <p:nvSpPr>
          <p:cNvPr id="4" name="Shape 2"/>
          <p:cNvSpPr/>
          <p:nvPr/>
        </p:nvSpPr>
        <p:spPr>
          <a:xfrm>
            <a:off x="621792" y="1325880"/>
            <a:ext cx="10972800" cy="1097280"/>
          </a:xfrm>
          <a:prstGeom prst="roundRect">
            <a:avLst>
              <a:gd name="adj" fmla="val 41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60120" y="162763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Transformar dados corporativos de estoque em informação gerencial para decisões logísticas mais rápidas, seguras e eficientes.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49808" y="3044952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261A0"/>
                </a:solidFill>
              </a:rPr>
              <a:t>1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777240" y="35387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D6B7E"/>
                </a:solidFill>
              </a:rPr>
              <a:t>CONHECER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096" y="4096512"/>
            <a:ext cx="216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5D6B7E"/>
                </a:solidFill>
              </a:rPr>
              <a:t>a realidade de Suprimentos da CPTM</a:t>
            </a:r>
            <a:endParaRPr lang="pt-BR" sz="1400" noProof="0" dirty="0"/>
          </a:p>
        </p:txBody>
      </p:sp>
      <p:sp>
        <p:nvSpPr>
          <p:cNvPr id="10" name="Shape 8"/>
          <p:cNvSpPr/>
          <p:nvPr/>
        </p:nvSpPr>
        <p:spPr>
          <a:xfrm>
            <a:off x="3429000" y="2880360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538728" y="3044952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261A0"/>
                </a:solidFill>
              </a:rPr>
              <a:t>2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3566160" y="35387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D6B7E"/>
                </a:solidFill>
              </a:rPr>
              <a:t>ANALISAR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57016" y="4096512"/>
            <a:ext cx="216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5D6B7E"/>
                </a:solidFill>
              </a:rPr>
              <a:t>dados do ERP ALVO</a:t>
            </a:r>
            <a:endParaRPr lang="pt-BR" sz="1400" noProof="0" dirty="0"/>
          </a:p>
        </p:txBody>
      </p:sp>
      <p:sp>
        <p:nvSpPr>
          <p:cNvPr id="14" name="Shape 12"/>
          <p:cNvSpPr/>
          <p:nvPr/>
        </p:nvSpPr>
        <p:spPr>
          <a:xfrm>
            <a:off x="6217920" y="2880360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327648" y="3044952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261A0"/>
                </a:solidFill>
              </a:rPr>
              <a:t>3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6355080" y="35387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D6B7E"/>
                </a:solidFill>
              </a:rPr>
              <a:t>CONSTRUIR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45936" y="4096512"/>
            <a:ext cx="216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5D6B7E"/>
                </a:solidFill>
              </a:rPr>
              <a:t>modelo</a:t>
            </a:r>
            <a:r>
              <a:rPr lang="pt-BR" sz="1400" noProof="0" dirty="0">
                <a:solidFill>
                  <a:srgbClr val="5D6B7E"/>
                </a:solidFill>
              </a:rPr>
              <a:t>,</a:t>
            </a:r>
            <a:r>
              <a:rPr lang="en-US" sz="1400" dirty="0">
                <a:solidFill>
                  <a:srgbClr val="5D6B7E"/>
                </a:solidFill>
              </a:rPr>
              <a:t> ETL e dashboard </a:t>
            </a:r>
            <a:r>
              <a:rPr lang="en-US" sz="1400" dirty="0" err="1">
                <a:solidFill>
                  <a:srgbClr val="5D6B7E"/>
                </a:solidFill>
              </a:rPr>
              <a:t>em</a:t>
            </a:r>
            <a:r>
              <a:rPr lang="en-US" sz="1400" dirty="0">
                <a:solidFill>
                  <a:srgbClr val="5D6B7E"/>
                </a:solidFill>
              </a:rPr>
              <a:t> Power BI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06840" y="2880360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116568" y="3044952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D71920"/>
                </a:solidFill>
              </a:rPr>
              <a:t>4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9144000" y="35387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D6B7E"/>
                </a:solidFill>
              </a:rPr>
              <a:t>APRESENTAR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34856" y="4096512"/>
            <a:ext cx="216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5D6B7E"/>
                </a:solidFill>
              </a:rPr>
              <a:t>uma solução funcional e aplicável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30" dirty="0">
                <a:solidFill>
                  <a:srgbClr val="D71920"/>
                </a:solidFill>
              </a:rPr>
              <a:t>O PROJETO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1F3A"/>
                </a:solidFill>
              </a:rPr>
              <a:t>Objeto do LOG Experience 2026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621792" y="1234440"/>
            <a:ext cx="3401568" cy="44348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21792" y="1234440"/>
            <a:ext cx="73152" cy="443484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50392" y="141732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0B1F3A"/>
                </a:solidFill>
              </a:rPr>
              <a:t>Problema real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850392" y="1856232"/>
            <a:ext cx="296265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Grande volume de dados de estoque exige tratamento, organização e análise para apoiar a gestão.</a:t>
            </a:r>
            <a:endParaRPr lang="pt-BR" sz="1400" noProof="0" dirty="0"/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401568" cy="44348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389120" y="1234440"/>
            <a:ext cx="73152" cy="4434840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617720" y="141732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0B1F3A"/>
                </a:solidFill>
              </a:rPr>
              <a:t>Solução proposta</a:t>
            </a:r>
            <a:endParaRPr lang="pt-BR" sz="2000" noProof="0" dirty="0"/>
          </a:p>
        </p:txBody>
      </p:sp>
      <p:sp>
        <p:nvSpPr>
          <p:cNvPr id="11" name="Text 9"/>
          <p:cNvSpPr/>
          <p:nvPr/>
        </p:nvSpPr>
        <p:spPr>
          <a:xfrm>
            <a:off x="4617720" y="1856232"/>
            <a:ext cx="296265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Desenvolvimento colaborativo de uma solução de </a:t>
            </a:r>
            <a:r>
              <a:rPr lang="pt-BR" sz="1400" i="1" noProof="0" dirty="0">
                <a:solidFill>
                  <a:srgbClr val="172033"/>
                </a:solidFill>
              </a:rPr>
              <a:t>Business </a:t>
            </a:r>
            <a:r>
              <a:rPr lang="pt-BR" sz="1400" i="1" noProof="0" dirty="0" err="1">
                <a:solidFill>
                  <a:srgbClr val="172033"/>
                </a:solidFill>
              </a:rPr>
              <a:t>Intelligence</a:t>
            </a:r>
            <a:r>
              <a:rPr lang="pt-BR" sz="1400" i="1" noProof="0" dirty="0">
                <a:solidFill>
                  <a:srgbClr val="172033"/>
                </a:solidFill>
              </a:rPr>
              <a:t> </a:t>
            </a:r>
            <a:r>
              <a:rPr lang="pt-BR" sz="1400" noProof="0" dirty="0">
                <a:solidFill>
                  <a:srgbClr val="172033"/>
                </a:solidFill>
              </a:rPr>
              <a:t>com dashboards e indicadores logísticos.</a:t>
            </a:r>
            <a:endParaRPr lang="pt-BR" sz="1400" noProof="0" dirty="0"/>
          </a:p>
        </p:txBody>
      </p:sp>
      <p:sp>
        <p:nvSpPr>
          <p:cNvPr id="12" name="Shape 10"/>
          <p:cNvSpPr/>
          <p:nvPr/>
        </p:nvSpPr>
        <p:spPr>
          <a:xfrm>
            <a:off x="8156448" y="1234440"/>
            <a:ext cx="3401568" cy="44348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156448" y="1234440"/>
            <a:ext cx="73152" cy="44348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385048" y="141732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0B1F3A"/>
                </a:solidFill>
              </a:rPr>
              <a:t>Aplicação esperada</a:t>
            </a:r>
            <a:endParaRPr lang="pt-BR" sz="2000" noProof="0" dirty="0"/>
          </a:p>
        </p:txBody>
      </p:sp>
      <p:sp>
        <p:nvSpPr>
          <p:cNvPr id="15" name="Text 13"/>
          <p:cNvSpPr/>
          <p:nvPr/>
        </p:nvSpPr>
        <p:spPr>
          <a:xfrm>
            <a:off x="8385048" y="1856232"/>
            <a:ext cx="296265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Acompanhamento da evolução dos estoques, análises gerenciais e base para futura integração ao ERP ALVO.</a:t>
            </a:r>
            <a:endParaRPr lang="pt-BR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1463040" y="5897880"/>
            <a:ext cx="9235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0B1F3A"/>
                </a:solidFill>
              </a:rPr>
              <a:t>Aprendizagem baseada em projetos + inovação aplicada ao setor metroferroviário</a:t>
            </a:r>
            <a:endParaRPr lang="pt-BR" sz="16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30" dirty="0">
                <a:solidFill>
                  <a:srgbClr val="D71920"/>
                </a:solidFill>
              </a:rPr>
              <a:t>CONTEXTO LOGÍSTICO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1F3A"/>
                </a:solidFill>
              </a:rPr>
              <a:t>Por que a gestão de estoques importa?</a:t>
            </a:r>
            <a:endParaRPr lang="en-US" sz="1800"/>
          </a:p>
        </p:txBody>
      </p:sp>
      <p:pic>
        <p:nvPicPr>
          <p:cNvPr id="4" name="Image 0" descr="/mnt/data/5e6964944a.png"/>
          <p:cNvPicPr>
            <a:picLocks noChangeAspect="1"/>
          </p:cNvPicPr>
          <p:nvPr/>
        </p:nvPicPr>
        <p:blipFill>
          <a:blip r:embed="rId3"/>
          <a:srcRect l="17568" r="17568"/>
          <a:stretch/>
        </p:blipFill>
        <p:spPr>
          <a:xfrm>
            <a:off x="6720840" y="1097280"/>
            <a:ext cx="4937760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" y="1143000"/>
            <a:ext cx="56235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621792" y="1143000"/>
            <a:ext cx="73152" cy="9875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50392" y="124358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0B1F3A"/>
                </a:solidFill>
              </a:rPr>
              <a:t>Disponibilidade</a:t>
            </a:r>
            <a:endParaRPr lang="pt-BR" sz="1600" noProof="0" dirty="0"/>
          </a:p>
        </p:txBody>
      </p:sp>
      <p:sp>
        <p:nvSpPr>
          <p:cNvPr id="8" name="Text 5"/>
          <p:cNvSpPr/>
          <p:nvPr/>
        </p:nvSpPr>
        <p:spPr>
          <a:xfrm>
            <a:off x="850392" y="1636776"/>
            <a:ext cx="518464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Materiais disponíveis no momento certo para apoiar a manutenção ferroviária.</a:t>
            </a:r>
            <a:endParaRPr lang="pt-BR" sz="1400" noProof="0" dirty="0"/>
          </a:p>
        </p:txBody>
      </p:sp>
      <p:sp>
        <p:nvSpPr>
          <p:cNvPr id="9" name="Shape 6"/>
          <p:cNvSpPr/>
          <p:nvPr/>
        </p:nvSpPr>
        <p:spPr>
          <a:xfrm>
            <a:off x="621792" y="2350008"/>
            <a:ext cx="56235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21792" y="2350008"/>
            <a:ext cx="73152" cy="987552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68680" y="24323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0B1F3A"/>
                </a:solidFill>
              </a:rPr>
              <a:t>Eficiência</a:t>
            </a:r>
            <a:endParaRPr lang="pt-BR" sz="1600" noProof="0" dirty="0"/>
          </a:p>
        </p:txBody>
      </p:sp>
      <p:sp>
        <p:nvSpPr>
          <p:cNvPr id="12" name="Text 9"/>
          <p:cNvSpPr/>
          <p:nvPr/>
        </p:nvSpPr>
        <p:spPr>
          <a:xfrm>
            <a:off x="864108" y="2825496"/>
            <a:ext cx="518464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Redução de esforços manuais e melhor direcionamento das análises.</a:t>
            </a:r>
            <a:endParaRPr lang="pt-BR" sz="1400" noProof="0" dirty="0"/>
          </a:p>
        </p:txBody>
      </p:sp>
      <p:sp>
        <p:nvSpPr>
          <p:cNvPr id="13" name="Shape 10"/>
          <p:cNvSpPr/>
          <p:nvPr/>
        </p:nvSpPr>
        <p:spPr>
          <a:xfrm>
            <a:off x="621792" y="3557016"/>
            <a:ext cx="56235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621792" y="3557016"/>
            <a:ext cx="73152" cy="98755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64108" y="36393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0B1F3A"/>
                </a:solidFill>
              </a:rPr>
              <a:t>Recursos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0392" y="4039616"/>
            <a:ext cx="518464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Uso racional do estoque e maior visibilidade sobre valores imobilizados.</a:t>
            </a:r>
            <a:endParaRPr lang="pt-BR" sz="1400" noProof="0" dirty="0"/>
          </a:p>
        </p:txBody>
      </p:sp>
      <p:sp>
        <p:nvSpPr>
          <p:cNvPr id="17" name="Shape 14"/>
          <p:cNvSpPr/>
          <p:nvPr/>
        </p:nvSpPr>
        <p:spPr>
          <a:xfrm>
            <a:off x="630936" y="4764024"/>
            <a:ext cx="56235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621792" y="4764024"/>
            <a:ext cx="73152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864108" y="4846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0B1F3A"/>
                </a:solidFill>
              </a:rPr>
              <a:t>Decisão</a:t>
            </a:r>
            <a:endParaRPr lang="pt-BR" sz="1400" noProof="0" dirty="0"/>
          </a:p>
        </p:txBody>
      </p:sp>
      <p:sp>
        <p:nvSpPr>
          <p:cNvPr id="20" name="Text 17"/>
          <p:cNvSpPr/>
          <p:nvPr/>
        </p:nvSpPr>
        <p:spPr>
          <a:xfrm>
            <a:off x="868680" y="5166360"/>
            <a:ext cx="518464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Informações consistentes para priorizar ações e mitigar riscos.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30" dirty="0">
                <a:solidFill>
                  <a:srgbClr val="D71920"/>
                </a:solidFill>
              </a:rPr>
              <a:t>PROPOSTA DE VALOR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1F3A"/>
                </a:solidFill>
              </a:rPr>
              <a:t>Academia e empresa resolvendo um desafio real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1417320" y="1417320"/>
            <a:ext cx="1188720" cy="1188720"/>
          </a:xfrm>
          <a:prstGeom prst="ellipse">
            <a:avLst/>
          </a:prstGeom>
          <a:solidFill>
            <a:srgbClr val="1261A0"/>
          </a:solidFill>
          <a:ln w="25400">
            <a:solidFill>
              <a:srgbClr val="FFFFFF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0B1F3A"/>
                </a:solidFill>
              </a:rPr>
              <a:t>Conhecimento acadêmico</a:t>
            </a:r>
            <a:endParaRPr lang="pt-BR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5D6B7E"/>
                </a:solidFill>
              </a:rPr>
              <a:t>Métodos, modelagem e aprendizado em sala de aula</a:t>
            </a:r>
            <a:endParaRPr lang="pt-BR" sz="1400" noProof="0" dirty="0"/>
          </a:p>
        </p:txBody>
      </p:sp>
      <p:sp>
        <p:nvSpPr>
          <p:cNvPr id="8" name="Shape 6"/>
          <p:cNvSpPr/>
          <p:nvPr/>
        </p:nvSpPr>
        <p:spPr>
          <a:xfrm>
            <a:off x="2926080" y="1783080"/>
            <a:ext cx="594360" cy="438912"/>
          </a:xfrm>
          <a:prstGeom prst="chevron">
            <a:avLst/>
          </a:prstGeom>
          <a:solidFill>
            <a:srgbClr val="B8C7D9"/>
          </a:solidFill>
          <a:ln w="12700">
            <a:solidFill>
              <a:srgbClr val="B8C7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160520" y="1417320"/>
            <a:ext cx="1188720" cy="1188720"/>
          </a:xfrm>
          <a:prstGeom prst="ellipse">
            <a:avLst/>
          </a:prstGeom>
          <a:solidFill>
            <a:srgbClr val="D71920"/>
          </a:solidFill>
          <a:ln w="25400">
            <a:solidFill>
              <a:srgbClr val="FFFFFF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749040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0B1F3A"/>
                </a:solidFill>
              </a:rPr>
              <a:t>Dados e especialistas</a:t>
            </a:r>
            <a:endParaRPr lang="pt-BR" sz="1600" noProof="0" dirty="0"/>
          </a:p>
        </p:txBody>
      </p:sp>
      <p:sp>
        <p:nvSpPr>
          <p:cNvPr id="12" name="Text 10"/>
          <p:cNvSpPr/>
          <p:nvPr/>
        </p:nvSpPr>
        <p:spPr>
          <a:xfrm>
            <a:off x="365760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5D6B7E"/>
                </a:solidFill>
              </a:rPr>
              <a:t>Contexto real da logística e requisitos da CPTM</a:t>
            </a:r>
            <a:endParaRPr lang="pt-BR" sz="1400" noProof="0" dirty="0"/>
          </a:p>
        </p:txBody>
      </p:sp>
      <p:sp>
        <p:nvSpPr>
          <p:cNvPr id="13" name="Shape 11"/>
          <p:cNvSpPr/>
          <p:nvPr/>
        </p:nvSpPr>
        <p:spPr>
          <a:xfrm>
            <a:off x="5669280" y="1783080"/>
            <a:ext cx="594360" cy="438912"/>
          </a:xfrm>
          <a:prstGeom prst="chevron">
            <a:avLst/>
          </a:prstGeom>
          <a:solidFill>
            <a:srgbClr val="B8C7D9"/>
          </a:solidFill>
          <a:ln w="12700">
            <a:solidFill>
              <a:srgbClr val="B8C7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903720" y="1417320"/>
            <a:ext cx="1188720" cy="1188720"/>
          </a:xfrm>
          <a:prstGeom prst="ellipse">
            <a:avLst/>
          </a:prstGeom>
          <a:solidFill>
            <a:srgbClr val="27A9E1"/>
          </a:solidFill>
          <a:ln w="25400">
            <a:solidFill>
              <a:srgbClr val="FFFFFF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92240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0B1F3A"/>
                </a:solidFill>
              </a:rPr>
              <a:t>Experimentação</a:t>
            </a:r>
            <a:endParaRPr lang="pt-BR" sz="1600" noProof="0" dirty="0"/>
          </a:p>
        </p:txBody>
      </p:sp>
      <p:sp>
        <p:nvSpPr>
          <p:cNvPr id="17" name="Text 15"/>
          <p:cNvSpPr/>
          <p:nvPr/>
        </p:nvSpPr>
        <p:spPr>
          <a:xfrm>
            <a:off x="640080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5D6B7E"/>
                </a:solidFill>
              </a:rPr>
              <a:t>Protótipos, indicadores e visualizações</a:t>
            </a:r>
            <a:endParaRPr lang="pt-BR" sz="1400" noProof="0" dirty="0"/>
          </a:p>
        </p:txBody>
      </p:sp>
      <p:sp>
        <p:nvSpPr>
          <p:cNvPr id="18" name="Shape 16"/>
          <p:cNvSpPr/>
          <p:nvPr/>
        </p:nvSpPr>
        <p:spPr>
          <a:xfrm>
            <a:off x="8412480" y="1783080"/>
            <a:ext cx="594360" cy="438912"/>
          </a:xfrm>
          <a:prstGeom prst="chevron">
            <a:avLst/>
          </a:prstGeom>
          <a:solidFill>
            <a:srgbClr val="B8C7D9"/>
          </a:solidFill>
          <a:ln w="12700">
            <a:solidFill>
              <a:srgbClr val="B8C7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9646920" y="1417320"/>
            <a:ext cx="1188720" cy="1188720"/>
          </a:xfrm>
          <a:prstGeom prst="ellipse">
            <a:avLst/>
          </a:prstGeom>
          <a:solidFill>
            <a:srgbClr val="16A085"/>
          </a:solidFill>
          <a:ln w="25400">
            <a:solidFill>
              <a:srgbClr val="FFFFFF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9235440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0B1F3A"/>
                </a:solidFill>
              </a:rPr>
              <a:t>Potencial de aplicação</a:t>
            </a:r>
            <a:endParaRPr lang="pt-BR" sz="1600" noProof="0" dirty="0"/>
          </a:p>
        </p:txBody>
      </p:sp>
      <p:sp>
        <p:nvSpPr>
          <p:cNvPr id="22" name="Text 20"/>
          <p:cNvSpPr/>
          <p:nvPr/>
        </p:nvSpPr>
        <p:spPr>
          <a:xfrm>
            <a:off x="914400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5D6B7E"/>
                </a:solidFill>
              </a:rPr>
              <a:t>Soluções que podem evoluir para prova de conceito</a:t>
            </a:r>
            <a:endParaRPr lang="pt-BR" sz="1400" noProof="0" dirty="0"/>
          </a:p>
        </p:txBody>
      </p:sp>
      <p:sp>
        <p:nvSpPr>
          <p:cNvPr id="23" name="Shape 21"/>
          <p:cNvSpPr/>
          <p:nvPr/>
        </p:nvSpPr>
        <p:spPr>
          <a:xfrm>
            <a:off x="914400" y="4983480"/>
            <a:ext cx="10378440" cy="841248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C9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234440" y="5257800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0B1F3A"/>
                </a:solidFill>
              </a:rPr>
              <a:t>O aprendizado ocorre ao transformar uma necessidade operacional em uma solução analítica demonstrável.</a:t>
            </a:r>
            <a:endParaRPr lang="pt-BR" sz="16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30">
                <a:solidFill>
                  <a:srgbClr val="D71920"/>
                </a:solidFill>
              </a:rPr>
              <a:t>DIRECIONADORES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1F3A"/>
                </a:solidFill>
              </a:rPr>
              <a:t>Objetivos do projeto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3749040" cy="480060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6012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ECDF0"/>
                </a:solidFill>
              </a:rPr>
              <a:t>OBJETIVO GERAL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32004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FFFF"/>
                </a:solidFill>
              </a:rPr>
              <a:t>Desenvolver uma solução tecnológica baseada em </a:t>
            </a:r>
            <a:r>
              <a:rPr lang="pt-BR" sz="1800" b="1" i="1" noProof="0" dirty="0">
                <a:solidFill>
                  <a:srgbClr val="FFFFFF"/>
                </a:solidFill>
              </a:rPr>
              <a:t>Business </a:t>
            </a:r>
            <a:r>
              <a:rPr lang="pt-BR" sz="1800" b="1" i="1" noProof="0" dirty="0" err="1">
                <a:solidFill>
                  <a:srgbClr val="FFFFFF"/>
                </a:solidFill>
              </a:rPr>
              <a:t>Intelligence</a:t>
            </a:r>
            <a:r>
              <a:rPr lang="pt-BR" sz="1800" b="1" i="1" noProof="0" dirty="0">
                <a:solidFill>
                  <a:srgbClr val="FFFFFF"/>
                </a:solidFill>
              </a:rPr>
              <a:t> </a:t>
            </a:r>
            <a:r>
              <a:rPr lang="pt-BR" sz="1800" b="1" noProof="0" dirty="0">
                <a:solidFill>
                  <a:srgbClr val="FFFFFF"/>
                </a:solidFill>
              </a:rPr>
              <a:t>para apoiar a gestão logística da CPTM.</a:t>
            </a:r>
            <a:endParaRPr lang="pt-BR" sz="1800" noProof="0" dirty="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30632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73152" cy="932688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93776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</a:rPr>
              <a:t>01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4937760" y="1764792"/>
            <a:ext cx="262432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Painel gerencial de estoques</a:t>
            </a:r>
            <a:endParaRPr lang="pt-BR" sz="1400" noProof="0" dirty="0"/>
          </a:p>
        </p:txBody>
      </p:sp>
      <p:sp>
        <p:nvSpPr>
          <p:cNvPr id="11" name="Shape 9"/>
          <p:cNvSpPr/>
          <p:nvPr/>
        </p:nvSpPr>
        <p:spPr>
          <a:xfrm>
            <a:off x="8138160" y="1143000"/>
            <a:ext cx="30632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8138160" y="1143000"/>
            <a:ext cx="73152" cy="932688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36676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</a:rPr>
              <a:t>02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8366760" y="1764792"/>
            <a:ext cx="262432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Indicadores logísticos</a:t>
            </a:r>
            <a:endParaRPr lang="pt-BR" sz="1400" noProof="0" dirty="0"/>
          </a:p>
        </p:txBody>
      </p:sp>
      <p:sp>
        <p:nvSpPr>
          <p:cNvPr id="15" name="Shape 13"/>
          <p:cNvSpPr/>
          <p:nvPr/>
        </p:nvSpPr>
        <p:spPr>
          <a:xfrm>
            <a:off x="4709160" y="2331720"/>
            <a:ext cx="30632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709160" y="2331720"/>
            <a:ext cx="73152" cy="932688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937760" y="2514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</a:rPr>
              <a:t>03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937760" y="2953512"/>
            <a:ext cx="262432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Apoio à tomada de decisão</a:t>
            </a:r>
            <a:endParaRPr lang="pt-BR" sz="1400" noProof="0" dirty="0"/>
          </a:p>
        </p:txBody>
      </p:sp>
      <p:sp>
        <p:nvSpPr>
          <p:cNvPr id="19" name="Shape 17"/>
          <p:cNvSpPr/>
          <p:nvPr/>
        </p:nvSpPr>
        <p:spPr>
          <a:xfrm>
            <a:off x="8138160" y="2331720"/>
            <a:ext cx="30632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138160" y="2331720"/>
            <a:ext cx="73152" cy="932688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366760" y="2514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</a:rPr>
              <a:t>04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8394192" y="2766234"/>
            <a:ext cx="262432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Aprendizagem baseada em projetos</a:t>
            </a:r>
            <a:endParaRPr lang="pt-BR" sz="1400" noProof="0" dirty="0"/>
          </a:p>
        </p:txBody>
      </p:sp>
      <p:sp>
        <p:nvSpPr>
          <p:cNvPr id="23" name="Shape 21"/>
          <p:cNvSpPr/>
          <p:nvPr/>
        </p:nvSpPr>
        <p:spPr>
          <a:xfrm>
            <a:off x="4709160" y="3520440"/>
            <a:ext cx="30632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709160" y="3520440"/>
            <a:ext cx="73152" cy="932688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937760" y="3703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</a:rPr>
              <a:t>05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4937760" y="4142232"/>
            <a:ext cx="262432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Inovação</a:t>
            </a:r>
            <a:r>
              <a:rPr lang="en-US" sz="1400" dirty="0">
                <a:solidFill>
                  <a:srgbClr val="172033"/>
                </a:solidFill>
              </a:rPr>
              <a:t> </a:t>
            </a:r>
            <a:r>
              <a:rPr lang="pt-BR" sz="1400" noProof="0" dirty="0">
                <a:solidFill>
                  <a:srgbClr val="172033"/>
                </a:solidFill>
              </a:rPr>
              <a:t>aplicada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38160" y="3520440"/>
            <a:ext cx="30632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8138160" y="3520440"/>
            <a:ext cx="73152" cy="932688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8366760" y="3703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</a:rPr>
              <a:t>06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8394192" y="4023360"/>
            <a:ext cx="262432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Vivência operacional ferroviária</a:t>
            </a:r>
            <a:endParaRPr lang="pt-BR" sz="1400" noProof="0" dirty="0"/>
          </a:p>
        </p:txBody>
      </p:sp>
      <p:sp>
        <p:nvSpPr>
          <p:cNvPr id="31" name="Shape 29"/>
          <p:cNvSpPr/>
          <p:nvPr/>
        </p:nvSpPr>
        <p:spPr>
          <a:xfrm>
            <a:off x="4709160" y="4709160"/>
            <a:ext cx="30632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4709160" y="4709160"/>
            <a:ext cx="73152" cy="93268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937760" y="4892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</a:rPr>
              <a:t>07</a:t>
            </a:r>
            <a:endParaRPr lang="en-US" sz="1400"/>
          </a:p>
        </p:txBody>
      </p:sp>
      <p:sp>
        <p:nvSpPr>
          <p:cNvPr id="34" name="Text 32"/>
          <p:cNvSpPr/>
          <p:nvPr/>
        </p:nvSpPr>
        <p:spPr>
          <a:xfrm>
            <a:off x="4951476" y="5175504"/>
            <a:ext cx="262432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Competências em análise de dados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30" dirty="0">
                <a:solidFill>
                  <a:srgbClr val="D71920"/>
                </a:solidFill>
              </a:rPr>
              <a:t>DO LANÇAMENTO À CONTINUIDADE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0B1F3A"/>
                </a:solidFill>
              </a:rPr>
              <a:t>Metas que orientam a jornada</a:t>
            </a:r>
            <a:endParaRPr lang="pt-BR" sz="18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58368" cy="658368"/>
          </a:xfrm>
          <a:prstGeom prst="ellipse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2615184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0B1F3A"/>
                </a:solidFill>
              </a:rPr>
              <a:t>Lançar o desafio</a:t>
            </a:r>
            <a:endParaRPr lang="pt-BR" sz="1400" noProof="0" dirty="0"/>
          </a:p>
        </p:txBody>
      </p:sp>
      <p:sp>
        <p:nvSpPr>
          <p:cNvPr id="7" name="Shape 5"/>
          <p:cNvSpPr/>
          <p:nvPr/>
        </p:nvSpPr>
        <p:spPr>
          <a:xfrm>
            <a:off x="1307592" y="2157984"/>
            <a:ext cx="950976" cy="1"/>
          </a:xfrm>
          <a:prstGeom prst="line">
            <a:avLst/>
          </a:prstGeom>
          <a:noFill/>
          <a:ln w="25400">
            <a:solidFill>
              <a:srgbClr val="9FB4C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67712" y="1828800"/>
            <a:ext cx="658368" cy="658368"/>
          </a:xfrm>
          <a:prstGeom prst="ellipse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267712" y="19659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2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1975104" y="2615184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0B1F3A"/>
                </a:solidFill>
              </a:rPr>
              <a:t>Integrar alunos e especialistas</a:t>
            </a:r>
            <a:endParaRPr lang="pt-BR" sz="1400" noProof="0" dirty="0"/>
          </a:p>
        </p:txBody>
      </p:sp>
      <p:sp>
        <p:nvSpPr>
          <p:cNvPr id="11" name="Shape 9"/>
          <p:cNvSpPr/>
          <p:nvPr/>
        </p:nvSpPr>
        <p:spPr>
          <a:xfrm>
            <a:off x="2935224" y="2157984"/>
            <a:ext cx="950976" cy="1"/>
          </a:xfrm>
          <a:prstGeom prst="line">
            <a:avLst/>
          </a:prstGeom>
          <a:noFill/>
          <a:ln w="25400">
            <a:solidFill>
              <a:srgbClr val="9FB4C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895344" y="1828800"/>
            <a:ext cx="658368" cy="658368"/>
          </a:xfrm>
          <a:prstGeom prst="ellipse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895344" y="19659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3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3602736" y="2615184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0B1F3A"/>
                </a:solidFill>
              </a:rPr>
              <a:t>Desenvolver soluções aderentes</a:t>
            </a:r>
            <a:endParaRPr lang="pt-BR" sz="1400" noProof="0" dirty="0"/>
          </a:p>
        </p:txBody>
      </p:sp>
      <p:sp>
        <p:nvSpPr>
          <p:cNvPr id="15" name="Shape 13"/>
          <p:cNvSpPr/>
          <p:nvPr/>
        </p:nvSpPr>
        <p:spPr>
          <a:xfrm>
            <a:off x="4562856" y="2157984"/>
            <a:ext cx="950976" cy="1"/>
          </a:xfrm>
          <a:prstGeom prst="line">
            <a:avLst/>
          </a:prstGeom>
          <a:noFill/>
          <a:ln w="25400">
            <a:solidFill>
              <a:srgbClr val="9FB4C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522976" y="1828800"/>
            <a:ext cx="658368" cy="658368"/>
          </a:xfrm>
          <a:prstGeom prst="ellipse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522976" y="19659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4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230368" y="2615184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0B1F3A"/>
                </a:solidFill>
              </a:rPr>
              <a:t>Realizar mentorias técnicas</a:t>
            </a:r>
            <a:endParaRPr lang="pt-BR" sz="1400" noProof="0" dirty="0"/>
          </a:p>
        </p:txBody>
      </p:sp>
      <p:sp>
        <p:nvSpPr>
          <p:cNvPr id="19" name="Shape 17"/>
          <p:cNvSpPr/>
          <p:nvPr/>
        </p:nvSpPr>
        <p:spPr>
          <a:xfrm>
            <a:off x="6190488" y="2157984"/>
            <a:ext cx="950976" cy="1"/>
          </a:xfrm>
          <a:prstGeom prst="line">
            <a:avLst/>
          </a:prstGeom>
          <a:noFill/>
          <a:ln w="25400">
            <a:solidFill>
              <a:srgbClr val="9FB4C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150608" y="1828800"/>
            <a:ext cx="658368" cy="658368"/>
          </a:xfrm>
          <a:prstGeom prst="ellipse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150608" y="19659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5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6858000" y="2615184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0B1F3A"/>
                </a:solidFill>
              </a:rPr>
              <a:t>Acompanhar entregas intermediárias</a:t>
            </a:r>
            <a:endParaRPr lang="pt-BR" sz="1400" noProof="0" dirty="0"/>
          </a:p>
        </p:txBody>
      </p:sp>
      <p:sp>
        <p:nvSpPr>
          <p:cNvPr id="23" name="Shape 21"/>
          <p:cNvSpPr/>
          <p:nvPr/>
        </p:nvSpPr>
        <p:spPr>
          <a:xfrm>
            <a:off x="7818120" y="2157984"/>
            <a:ext cx="950976" cy="1"/>
          </a:xfrm>
          <a:prstGeom prst="line">
            <a:avLst/>
          </a:prstGeom>
          <a:noFill/>
          <a:ln w="25400">
            <a:solidFill>
              <a:srgbClr val="9FB4C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8778240" y="1828800"/>
            <a:ext cx="658368" cy="658368"/>
          </a:xfrm>
          <a:prstGeom prst="ellipse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778240" y="19659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6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8485632" y="2615184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0B1F3A"/>
                </a:solidFill>
              </a:rPr>
              <a:t>Apresentar soluções finais</a:t>
            </a:r>
            <a:endParaRPr lang="pt-BR" sz="1400" noProof="0" dirty="0"/>
          </a:p>
        </p:txBody>
      </p:sp>
      <p:sp>
        <p:nvSpPr>
          <p:cNvPr id="27" name="Shape 25"/>
          <p:cNvSpPr/>
          <p:nvPr/>
        </p:nvSpPr>
        <p:spPr>
          <a:xfrm>
            <a:off x="9445752" y="2157984"/>
            <a:ext cx="950976" cy="1"/>
          </a:xfrm>
          <a:prstGeom prst="line">
            <a:avLst/>
          </a:prstGeom>
          <a:noFill/>
          <a:ln w="25400">
            <a:solidFill>
              <a:srgbClr val="9FB4C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10405872" y="1828800"/>
            <a:ext cx="658368" cy="658368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0405872" y="19659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7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10113264" y="2615184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0B1F3A"/>
                </a:solidFill>
              </a:rPr>
              <a:t>Identificar potencial de continuidade</a:t>
            </a:r>
            <a:endParaRPr lang="pt-BR" sz="1400" noProof="0" dirty="0"/>
          </a:p>
        </p:txBody>
      </p:sp>
      <p:sp>
        <p:nvSpPr>
          <p:cNvPr id="31" name="Shape 29"/>
          <p:cNvSpPr/>
          <p:nvPr/>
        </p:nvSpPr>
        <p:spPr>
          <a:xfrm>
            <a:off x="1051560" y="4160520"/>
            <a:ext cx="10104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417320" y="4462272"/>
            <a:ext cx="9372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0B1F3A"/>
                </a:solidFill>
              </a:rPr>
              <a:t>Cada meta reduz a distância entre ideia, protótipo e aplicação: a solução precisa ser tecnicamente consistente, compreensível e útil para a gestão.</a:t>
            </a:r>
            <a:endParaRPr lang="pt-BR" sz="16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30">
                <a:solidFill>
                  <a:srgbClr val="D71920"/>
                </a:solidFill>
              </a:rPr>
              <a:t>RESULTADOS ESPERADOS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0B1F3A"/>
                </a:solidFill>
              </a:rPr>
              <a:t>O que esperamos encontrar na solução</a:t>
            </a:r>
            <a:endParaRPr lang="pt-BR" sz="1800" noProof="0" dirty="0"/>
          </a:p>
        </p:txBody>
      </p:sp>
      <p:sp>
        <p:nvSpPr>
          <p:cNvPr id="4" name="Shape 2"/>
          <p:cNvSpPr/>
          <p:nvPr/>
        </p:nvSpPr>
        <p:spPr>
          <a:xfrm>
            <a:off x="1033272" y="1234440"/>
            <a:ext cx="2103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143000" y="1399032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D71920"/>
                </a:solidFill>
              </a:rPr>
              <a:t>BI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1170432" y="1892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D6B7E"/>
                </a:solidFill>
              </a:rPr>
              <a:t>Dashboard funcional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157216" y="1265345"/>
            <a:ext cx="2103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266944" y="1429937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261A0"/>
                </a:solidFill>
              </a:rPr>
              <a:t>ETL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5294376" y="1923713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D6B7E"/>
                </a:solidFill>
              </a:rPr>
              <a:t>Dados estruturados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9281160" y="1234440"/>
            <a:ext cx="17830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390888" y="1399032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27A9E1"/>
                </a:solidFill>
              </a:rPr>
              <a:t>ALERTAS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9418320" y="18928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D6B7E"/>
                </a:solidFill>
              </a:rPr>
              <a:t>Sinais acionáveis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1005840" y="2880360"/>
            <a:ext cx="48006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234440" y="3072384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noProof="0" dirty="0">
                <a:solidFill>
                  <a:srgbClr val="0B1F3A"/>
                </a:solidFill>
              </a:rPr>
              <a:t>✓  </a:t>
            </a:r>
            <a:r>
              <a:rPr lang="pt-BR" sz="1400" noProof="0" dirty="0">
                <a:solidFill>
                  <a:srgbClr val="0B1F3A"/>
                </a:solidFill>
              </a:rPr>
              <a:t>Análises financeiras </a:t>
            </a:r>
            <a:r>
              <a:rPr lang="en-US" sz="1400" noProof="0" dirty="0">
                <a:solidFill>
                  <a:srgbClr val="0B1F3A"/>
                </a:solidFill>
              </a:rPr>
              <a:t>do estoque</a:t>
            </a:r>
            <a:endParaRPr lang="en-US" sz="1400" noProof="0" dirty="0"/>
          </a:p>
        </p:txBody>
      </p:sp>
      <p:sp>
        <p:nvSpPr>
          <p:cNvPr id="21" name="Shape 19"/>
          <p:cNvSpPr/>
          <p:nvPr/>
        </p:nvSpPr>
        <p:spPr>
          <a:xfrm>
            <a:off x="6263640" y="2880360"/>
            <a:ext cx="48006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492240" y="3072384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noProof="0" dirty="0">
                <a:solidFill>
                  <a:srgbClr val="0B1F3A"/>
                </a:solidFill>
              </a:rPr>
              <a:t>✓  </a:t>
            </a:r>
            <a:r>
              <a:rPr lang="pt-BR" sz="1400" noProof="0" dirty="0">
                <a:solidFill>
                  <a:srgbClr val="0B1F3A"/>
                </a:solidFill>
              </a:rPr>
              <a:t>Indicadores de cobertura</a:t>
            </a:r>
            <a:endParaRPr lang="en-US" sz="1400" noProof="0" dirty="0"/>
          </a:p>
        </p:txBody>
      </p:sp>
      <p:sp>
        <p:nvSpPr>
          <p:cNvPr id="23" name="Shape 21"/>
          <p:cNvSpPr/>
          <p:nvPr/>
        </p:nvSpPr>
        <p:spPr>
          <a:xfrm>
            <a:off x="1005840" y="3840480"/>
            <a:ext cx="48006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234440" y="4032504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noProof="0" dirty="0">
                <a:solidFill>
                  <a:srgbClr val="0B1F3A"/>
                </a:solidFill>
              </a:rPr>
              <a:t>✓  Modelo dimensional e </a:t>
            </a:r>
            <a:r>
              <a:rPr lang="pt-BR" sz="1400" noProof="0" dirty="0">
                <a:solidFill>
                  <a:srgbClr val="0B1F3A"/>
                </a:solidFill>
              </a:rPr>
              <a:t>dicionário</a:t>
            </a:r>
            <a:r>
              <a:rPr lang="en-US" sz="1400" noProof="0" dirty="0">
                <a:solidFill>
                  <a:srgbClr val="0B1F3A"/>
                </a:solidFill>
              </a:rPr>
              <a:t> de dados</a:t>
            </a:r>
            <a:endParaRPr lang="en-US" sz="1400" noProof="0" dirty="0"/>
          </a:p>
        </p:txBody>
      </p:sp>
      <p:sp>
        <p:nvSpPr>
          <p:cNvPr id="25" name="Shape 23"/>
          <p:cNvSpPr/>
          <p:nvPr/>
        </p:nvSpPr>
        <p:spPr>
          <a:xfrm>
            <a:off x="6263640" y="3840480"/>
            <a:ext cx="48006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92240" y="4032504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noProof="0" dirty="0">
                <a:solidFill>
                  <a:srgbClr val="0B1F3A"/>
                </a:solidFill>
              </a:rPr>
              <a:t>✓  </a:t>
            </a:r>
            <a:r>
              <a:rPr lang="pt-BR" sz="1400" noProof="0" dirty="0">
                <a:solidFill>
                  <a:srgbClr val="0B1F3A"/>
                </a:solidFill>
              </a:rPr>
              <a:t>Documentação técnica e manual de uso</a:t>
            </a:r>
            <a:endParaRPr lang="en-US" sz="1400" noProof="0" dirty="0"/>
          </a:p>
        </p:txBody>
      </p:sp>
      <p:sp>
        <p:nvSpPr>
          <p:cNvPr id="27" name="Shape 25"/>
          <p:cNvSpPr/>
          <p:nvPr/>
        </p:nvSpPr>
        <p:spPr>
          <a:xfrm>
            <a:off x="1005840" y="4800600"/>
            <a:ext cx="10195560" cy="6400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D7E1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234440" y="4992624"/>
            <a:ext cx="9738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0B1F3A"/>
                </a:solidFill>
              </a:rPr>
              <a:t>Arquitetura preparada para evolução e integração futura</a:t>
            </a:r>
            <a:endParaRPr lang="pt-BR" sz="16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30" dirty="0">
                <a:solidFill>
                  <a:srgbClr val="D71920"/>
                </a:solidFill>
              </a:rPr>
              <a:t>ARQUITETURA CONCEITUAL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0B1F3A"/>
                </a:solidFill>
              </a:rPr>
              <a:t>Da origem do dado à decisão</a:t>
            </a:r>
            <a:endParaRPr lang="pt-BR" sz="1800" noProof="0" dirty="0"/>
          </a:p>
        </p:txBody>
      </p:sp>
      <p:pic>
        <p:nvPicPr>
          <p:cNvPr id="4" name="Image 0" descr="/mnt/data/cefb1d3eee.png"/>
          <p:cNvPicPr>
            <a:picLocks noChangeAspect="1"/>
          </p:cNvPicPr>
          <p:nvPr/>
        </p:nvPicPr>
        <p:blipFill>
          <a:blip r:embed="rId3"/>
          <a:srcRect l="21818" r="21818"/>
          <a:stretch/>
        </p:blipFill>
        <p:spPr>
          <a:xfrm>
            <a:off x="640080" y="1170432"/>
            <a:ext cx="4251960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30368" y="1170432"/>
            <a:ext cx="598932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468112" y="14127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61A0"/>
                </a:solidFill>
              </a:rPr>
              <a:t>ERP ALVO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29400" y="138531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Dados previamente tratados e autorizados</a:t>
            </a:r>
            <a:endParaRPr lang="pt-BR" sz="1400" noProof="0" dirty="0"/>
          </a:p>
        </p:txBody>
      </p:sp>
      <p:sp>
        <p:nvSpPr>
          <p:cNvPr id="8" name="Shape 5"/>
          <p:cNvSpPr/>
          <p:nvPr/>
        </p:nvSpPr>
        <p:spPr>
          <a:xfrm>
            <a:off x="8183880" y="1892808"/>
            <a:ext cx="1" cy="265176"/>
          </a:xfrm>
          <a:prstGeom prst="line">
            <a:avLst/>
          </a:prstGeom>
          <a:noFill/>
          <a:ln w="25400">
            <a:solidFill>
              <a:srgbClr val="8CA6BF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5230368" y="2157984"/>
            <a:ext cx="598932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468112" y="24003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61A0"/>
                </a:solidFill>
              </a:rPr>
              <a:t>ETL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29400" y="2377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Extração, transformação e carga</a:t>
            </a:r>
            <a:endParaRPr lang="pt-BR" sz="1400" noProof="0" dirty="0"/>
          </a:p>
        </p:txBody>
      </p:sp>
      <p:sp>
        <p:nvSpPr>
          <p:cNvPr id="12" name="Shape 9"/>
          <p:cNvSpPr/>
          <p:nvPr/>
        </p:nvSpPr>
        <p:spPr>
          <a:xfrm>
            <a:off x="8183880" y="2880360"/>
            <a:ext cx="1" cy="265176"/>
          </a:xfrm>
          <a:prstGeom prst="line">
            <a:avLst/>
          </a:prstGeom>
          <a:noFill/>
          <a:ln w="25400">
            <a:solidFill>
              <a:srgbClr val="8CA6BF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5230368" y="3145536"/>
            <a:ext cx="598932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468112" y="33878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61A0"/>
                </a:solidFill>
              </a:rPr>
              <a:t>Modelo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629400" y="33649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Estrutura dimensional e relacionamentos</a:t>
            </a:r>
            <a:endParaRPr lang="pt-BR" sz="1400" noProof="0" dirty="0"/>
          </a:p>
        </p:txBody>
      </p:sp>
      <p:sp>
        <p:nvSpPr>
          <p:cNvPr id="16" name="Shape 13"/>
          <p:cNvSpPr/>
          <p:nvPr/>
        </p:nvSpPr>
        <p:spPr>
          <a:xfrm>
            <a:off x="8183880" y="3867912"/>
            <a:ext cx="1" cy="265176"/>
          </a:xfrm>
          <a:prstGeom prst="line">
            <a:avLst/>
          </a:prstGeom>
          <a:noFill/>
          <a:ln w="25400">
            <a:solidFill>
              <a:srgbClr val="8CA6BF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5230368" y="4133088"/>
            <a:ext cx="598932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468112" y="43754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61A0"/>
                </a:solidFill>
              </a:rPr>
              <a:t>Power BI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629400" y="43525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Medidas, visuais e navegação</a:t>
            </a:r>
            <a:endParaRPr lang="pt-BR" sz="1400" noProof="0" dirty="0"/>
          </a:p>
        </p:txBody>
      </p:sp>
      <p:sp>
        <p:nvSpPr>
          <p:cNvPr id="20" name="Shape 17"/>
          <p:cNvSpPr/>
          <p:nvPr/>
        </p:nvSpPr>
        <p:spPr>
          <a:xfrm>
            <a:off x="8183880" y="4855464"/>
            <a:ext cx="1" cy="265176"/>
          </a:xfrm>
          <a:prstGeom prst="line">
            <a:avLst/>
          </a:prstGeom>
          <a:noFill/>
          <a:ln w="25400">
            <a:solidFill>
              <a:srgbClr val="8CA6BF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5230368" y="5120640"/>
            <a:ext cx="5989320" cy="713232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468112" y="53629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1920"/>
                </a:solidFill>
              </a:rPr>
              <a:t>Gestão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629400" y="5340559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Indicadores, alertas e recomendações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30">
                <a:solidFill>
                  <a:srgbClr val="D71920"/>
                </a:solidFill>
              </a:rPr>
              <a:t>FASES DE EXECUÇÃO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0B1F3A"/>
                </a:solidFill>
              </a:rPr>
              <a:t>Nove fases, uma única jornada</a:t>
            </a:r>
            <a:endParaRPr lang="pt-BR" sz="1800" noProof="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20299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8E5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4904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71920"/>
                </a:solidFill>
              </a:rPr>
              <a:t>01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822960" y="189280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0B1F3A"/>
                </a:solidFill>
              </a:rPr>
              <a:t>Planejamento</a:t>
            </a:r>
            <a:endParaRPr lang="pt-BR" sz="1400" noProof="0" dirty="0"/>
          </a:p>
        </p:txBody>
      </p:sp>
      <p:sp>
        <p:nvSpPr>
          <p:cNvPr id="7" name="Shape 5"/>
          <p:cNvSpPr/>
          <p:nvPr/>
        </p:nvSpPr>
        <p:spPr>
          <a:xfrm>
            <a:off x="2852928" y="1325880"/>
            <a:ext cx="20299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8E5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017520" y="14904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71920"/>
                </a:solidFill>
              </a:rPr>
              <a:t>02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3017520" y="189280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0B1F3A"/>
                </a:solidFill>
              </a:rPr>
              <a:t>Abertura</a:t>
            </a:r>
            <a:endParaRPr lang="pt-BR" sz="1400" noProof="0" dirty="0"/>
          </a:p>
        </p:txBody>
      </p:sp>
      <p:sp>
        <p:nvSpPr>
          <p:cNvPr id="10" name="Shape 8"/>
          <p:cNvSpPr/>
          <p:nvPr/>
        </p:nvSpPr>
        <p:spPr>
          <a:xfrm>
            <a:off x="5047488" y="1325880"/>
            <a:ext cx="20299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8E5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212080" y="14904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71920"/>
                </a:solidFill>
              </a:rPr>
              <a:t>03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5212080" y="189280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0B1F3A"/>
                </a:solidFill>
              </a:rPr>
              <a:t>Imersão</a:t>
            </a:r>
            <a:endParaRPr lang="pt-BR" sz="1400" noProof="0" dirty="0"/>
          </a:p>
        </p:txBody>
      </p:sp>
      <p:sp>
        <p:nvSpPr>
          <p:cNvPr id="13" name="Shape 11"/>
          <p:cNvSpPr/>
          <p:nvPr/>
        </p:nvSpPr>
        <p:spPr>
          <a:xfrm>
            <a:off x="7242048" y="1325880"/>
            <a:ext cx="2029968" cy="1417320"/>
          </a:xfrm>
          <a:prstGeom prst="round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406640" y="14904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</a:rPr>
              <a:t>04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7406640" y="189280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FFFFFF"/>
                </a:solidFill>
              </a:rPr>
              <a:t>Desenvolvimento</a:t>
            </a:r>
            <a:endParaRPr lang="pt-BR" sz="1400" noProof="0" dirty="0"/>
          </a:p>
        </p:txBody>
      </p:sp>
      <p:sp>
        <p:nvSpPr>
          <p:cNvPr id="16" name="Shape 14"/>
          <p:cNvSpPr/>
          <p:nvPr/>
        </p:nvSpPr>
        <p:spPr>
          <a:xfrm>
            <a:off x="9436608" y="1325880"/>
            <a:ext cx="20299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8E5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601200" y="14904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71920"/>
                </a:solidFill>
              </a:rPr>
              <a:t>05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9601200" y="189280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0B1F3A"/>
                </a:solidFill>
              </a:rPr>
              <a:t>Mentorias</a:t>
            </a:r>
            <a:endParaRPr lang="pt-BR" sz="1400" noProof="0" dirty="0"/>
          </a:p>
        </p:txBody>
      </p:sp>
      <p:sp>
        <p:nvSpPr>
          <p:cNvPr id="19" name="Shape 17"/>
          <p:cNvSpPr/>
          <p:nvPr/>
        </p:nvSpPr>
        <p:spPr>
          <a:xfrm>
            <a:off x="1051560" y="3794760"/>
            <a:ext cx="2423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8E5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216152" y="39593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71920"/>
                </a:solidFill>
              </a:rPr>
              <a:t>06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1216152" y="4361688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0B1F3A"/>
                </a:solidFill>
              </a:rPr>
              <a:t>Validação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39312" y="3794760"/>
            <a:ext cx="2423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8E5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803904" y="39593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71920"/>
                </a:solidFill>
              </a:rPr>
              <a:t>07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3803904" y="4361688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0B1F3A"/>
                </a:solidFill>
              </a:rPr>
              <a:t>Entrega final</a:t>
            </a:r>
            <a:endParaRPr lang="pt-BR" sz="1400" noProof="0" dirty="0"/>
          </a:p>
        </p:txBody>
      </p:sp>
      <p:sp>
        <p:nvSpPr>
          <p:cNvPr id="25" name="Shape 23"/>
          <p:cNvSpPr/>
          <p:nvPr/>
        </p:nvSpPr>
        <p:spPr>
          <a:xfrm>
            <a:off x="6227064" y="3794760"/>
            <a:ext cx="2423160" cy="1417320"/>
          </a:xfrm>
          <a:prstGeom prst="round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391656" y="39593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</a:rPr>
              <a:t>08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6391656" y="4361688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 err="1">
                <a:solidFill>
                  <a:srgbClr val="FFFFFF"/>
                </a:solidFill>
              </a:rPr>
              <a:t>Pitch</a:t>
            </a:r>
            <a:r>
              <a:rPr lang="pt-BR" sz="1400" b="1" noProof="0" dirty="0">
                <a:solidFill>
                  <a:srgbClr val="FFFFFF"/>
                </a:solidFill>
              </a:rPr>
              <a:t> Day</a:t>
            </a:r>
            <a:endParaRPr lang="pt-BR" sz="1400" noProof="0" dirty="0"/>
          </a:p>
        </p:txBody>
      </p:sp>
      <p:sp>
        <p:nvSpPr>
          <p:cNvPr id="28" name="Shape 26"/>
          <p:cNvSpPr/>
          <p:nvPr/>
        </p:nvSpPr>
        <p:spPr>
          <a:xfrm>
            <a:off x="8814816" y="3794760"/>
            <a:ext cx="2423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8E5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8979408" y="39593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71920"/>
                </a:solidFill>
              </a:rPr>
              <a:t>09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8979408" y="4361688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0B1F3A"/>
                </a:solidFill>
              </a:rPr>
              <a:t>Encerramento</a:t>
            </a:r>
            <a:endParaRPr lang="pt-BR" sz="1400" noProof="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sz="1400" b="0"/>
              <a:t>16</a:t>
            </a:fld>
            <a:endParaRPr lang="en-US"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30">
                <a:solidFill>
                  <a:srgbClr val="D71920"/>
                </a:solidFill>
              </a:rPr>
              <a:t>FASES 1 A 3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1F3A"/>
                </a:solidFill>
              </a:rPr>
              <a:t>Preparar, lançar e compreender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456432" cy="452628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73152" cy="4526280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0B1F3A"/>
                </a:solidFill>
              </a:rPr>
              <a:t>1. Planejamento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868680" y="1856232"/>
            <a:ext cx="3017520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pt-BR" sz="1400" noProof="0" dirty="0">
                <a:solidFill>
                  <a:srgbClr val="172033"/>
                </a:solidFill>
              </a:rPr>
              <a:t>Reunião de </a:t>
            </a:r>
            <a:r>
              <a:rPr lang="pt-BR" sz="1400" noProof="0" dirty="0" err="1">
                <a:solidFill>
                  <a:srgbClr val="172033"/>
                </a:solidFill>
              </a:rPr>
              <a:t>kick</a:t>
            </a:r>
            <a:r>
              <a:rPr lang="pt-BR" sz="1400" noProof="0" dirty="0">
                <a:solidFill>
                  <a:srgbClr val="172033"/>
                </a:solidFill>
              </a:rPr>
              <a:t>-off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Alinhamento CPTM e Fatec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Edital e cronograma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Definição de mentores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Divulgação do desafio</a:t>
            </a:r>
            <a:endParaRPr lang="pt-BR" sz="1400" noProof="0" dirty="0"/>
          </a:p>
        </p:txBody>
      </p:sp>
      <p:sp>
        <p:nvSpPr>
          <p:cNvPr id="8" name="Shape 6"/>
          <p:cNvSpPr/>
          <p:nvPr/>
        </p:nvSpPr>
        <p:spPr>
          <a:xfrm>
            <a:off x="4370832" y="1234440"/>
            <a:ext cx="3456432" cy="452628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370832" y="1234440"/>
            <a:ext cx="73152" cy="45262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99432" y="141732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0B1F3A"/>
                </a:solidFill>
              </a:rPr>
              <a:t>2. Abertura do desafio</a:t>
            </a:r>
            <a:endParaRPr lang="pt-BR" sz="2000" noProof="0" dirty="0"/>
          </a:p>
        </p:txBody>
      </p:sp>
      <p:sp>
        <p:nvSpPr>
          <p:cNvPr id="11" name="Text 9"/>
          <p:cNvSpPr/>
          <p:nvPr/>
        </p:nvSpPr>
        <p:spPr>
          <a:xfrm>
            <a:off x="4599432" y="1856232"/>
            <a:ext cx="3017520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pt-BR" sz="1400" noProof="0" dirty="0">
                <a:solidFill>
                  <a:srgbClr val="172033"/>
                </a:solidFill>
              </a:rPr>
              <a:t>Cerimônia oficial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Apresentação institucional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Detalhamento do desafio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Esclarecimento dos requisitos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Formação das equipes</a:t>
            </a:r>
            <a:endParaRPr lang="pt-BR" sz="1400" noProof="0" dirty="0"/>
          </a:p>
        </p:txBody>
      </p:sp>
      <p:sp>
        <p:nvSpPr>
          <p:cNvPr id="12" name="Shape 10"/>
          <p:cNvSpPr/>
          <p:nvPr/>
        </p:nvSpPr>
        <p:spPr>
          <a:xfrm>
            <a:off x="8101584" y="1234440"/>
            <a:ext cx="3456432" cy="452628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101584" y="1234440"/>
            <a:ext cx="73152" cy="45262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330184" y="141732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0B1F3A"/>
                </a:solidFill>
              </a:rPr>
              <a:t>3. Imersão</a:t>
            </a:r>
            <a:endParaRPr lang="pt-BR" sz="2000" noProof="0" dirty="0"/>
          </a:p>
        </p:txBody>
      </p:sp>
      <p:sp>
        <p:nvSpPr>
          <p:cNvPr id="15" name="Text 13"/>
          <p:cNvSpPr/>
          <p:nvPr/>
        </p:nvSpPr>
        <p:spPr>
          <a:xfrm>
            <a:off x="8330184" y="1856232"/>
            <a:ext cx="3017520" cy="3776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pt-BR" sz="1400" noProof="0" dirty="0">
                <a:solidFill>
                  <a:srgbClr val="172033"/>
                </a:solidFill>
              </a:rPr>
              <a:t>Entendimento do processo logístico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Ambiente de negócios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Estudo dos requisitos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Levantamento de dúvidas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Plano inicial da equipe</a:t>
            </a:r>
            <a:endParaRPr lang="pt-BR" sz="1400" noProof="0" dirty="0"/>
          </a:p>
        </p:txBody>
      </p:sp>
      <p:sp>
        <p:nvSpPr>
          <p:cNvPr id="16" name="Shape 14"/>
          <p:cNvSpPr/>
          <p:nvPr/>
        </p:nvSpPr>
        <p:spPr>
          <a:xfrm>
            <a:off x="2971800" y="5925312"/>
            <a:ext cx="6217920" cy="347472"/>
          </a:xfrm>
          <a:prstGeom prst="roundRect">
            <a:avLst>
              <a:gd name="adj" fmla="val 2105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044952" y="5998464"/>
            <a:ext cx="6071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</a:rPr>
              <a:t>ENTREGÁVEIS: edital + equipes inscritas + plano inicial</a:t>
            </a:r>
            <a:endParaRPr lang="pt-BR" sz="16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sz="1400" b="0"/>
              <a:t>17</a:t>
            </a:fld>
            <a:endParaRPr lang="en-US"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30">
                <a:solidFill>
                  <a:srgbClr val="D71920"/>
                </a:solidFill>
              </a:rPr>
              <a:t>FASES 4 A 6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0B1F3A"/>
                </a:solidFill>
              </a:rPr>
              <a:t>Onde a solução ganha forma</a:t>
            </a:r>
            <a:endParaRPr lang="pt-BR" sz="18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0116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298448" y="1783080"/>
            <a:ext cx="685800" cy="685800"/>
          </a:xfrm>
          <a:prstGeom prst="ellipse">
            <a:avLst/>
          </a:prstGeom>
          <a:solidFill>
            <a:srgbClr val="1261A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98448" y="19659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1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0B1F3A"/>
                </a:solidFill>
              </a:rPr>
              <a:t>Modelagem</a:t>
            </a:r>
            <a:endParaRPr lang="pt-BR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804672" y="3291840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5D6B7E"/>
                </a:solidFill>
              </a:rPr>
              <a:t>Estruturar entidades, dimensões, fatos e relacionamentos</a:t>
            </a:r>
            <a:endParaRPr lang="pt-BR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2907792" y="1417320"/>
            <a:ext cx="20116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566160" y="1783080"/>
            <a:ext cx="685800" cy="685800"/>
          </a:xfrm>
          <a:prstGeom prst="ellipse">
            <a:avLst/>
          </a:prstGeom>
          <a:solidFill>
            <a:srgbClr val="1261A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566160" y="19659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2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3090672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ETL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72384" y="3291840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5D6B7E"/>
                </a:solidFill>
              </a:rPr>
              <a:t>Preparar dados com rastreabilidade, qualidade e regras claras</a:t>
            </a:r>
            <a:endParaRPr lang="pt-BR" sz="1400" noProof="0" dirty="0"/>
          </a:p>
        </p:txBody>
      </p:sp>
      <p:sp>
        <p:nvSpPr>
          <p:cNvPr id="14" name="Shape 12"/>
          <p:cNvSpPr/>
          <p:nvPr/>
        </p:nvSpPr>
        <p:spPr>
          <a:xfrm>
            <a:off x="5175504" y="1417320"/>
            <a:ext cx="20116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833872" y="1783080"/>
            <a:ext cx="685800" cy="685800"/>
          </a:xfrm>
          <a:prstGeom prst="ellipse">
            <a:avLst/>
          </a:prstGeom>
          <a:solidFill>
            <a:srgbClr val="1261A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833872" y="19659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3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5358384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Dashboard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0096" y="3291840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5D6B7E"/>
                </a:solidFill>
              </a:rPr>
              <a:t>Construir navegação, indicadores e visualizações</a:t>
            </a:r>
            <a:endParaRPr lang="pt-BR" sz="1400" noProof="0" dirty="0"/>
          </a:p>
        </p:txBody>
      </p:sp>
      <p:sp>
        <p:nvSpPr>
          <p:cNvPr id="19" name="Shape 17"/>
          <p:cNvSpPr/>
          <p:nvPr/>
        </p:nvSpPr>
        <p:spPr>
          <a:xfrm>
            <a:off x="7443216" y="1417320"/>
            <a:ext cx="20116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101584" y="1783080"/>
            <a:ext cx="685800" cy="685800"/>
          </a:xfrm>
          <a:prstGeom prst="ellipse">
            <a:avLst/>
          </a:prstGeom>
          <a:solidFill>
            <a:srgbClr val="1261A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101584" y="19659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4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626096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Testes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07808" y="3291840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5D6B7E"/>
                </a:solidFill>
              </a:rPr>
              <a:t>Verificar cálculos, filtros, desempenho e experiência de uso</a:t>
            </a:r>
            <a:endParaRPr lang="pt-BR" sz="1400" noProof="0" dirty="0"/>
          </a:p>
        </p:txBody>
      </p:sp>
      <p:sp>
        <p:nvSpPr>
          <p:cNvPr id="24" name="Shape 22"/>
          <p:cNvSpPr/>
          <p:nvPr/>
        </p:nvSpPr>
        <p:spPr>
          <a:xfrm>
            <a:off x="9710928" y="1417320"/>
            <a:ext cx="2011680" cy="352044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D71920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0369296" y="1783080"/>
            <a:ext cx="685800" cy="68580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0369296" y="19659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5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9893808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0B1F3A"/>
                </a:solidFill>
              </a:rPr>
              <a:t>Validação</a:t>
            </a:r>
            <a:endParaRPr lang="pt-BR" sz="1600" noProof="0" dirty="0"/>
          </a:p>
        </p:txBody>
      </p:sp>
      <p:sp>
        <p:nvSpPr>
          <p:cNvPr id="28" name="Text 26"/>
          <p:cNvSpPr/>
          <p:nvPr/>
        </p:nvSpPr>
        <p:spPr>
          <a:xfrm>
            <a:off x="9875520" y="3291840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5D6B7E"/>
                </a:solidFill>
              </a:rPr>
              <a:t>Apresentar versão intermediária e incorporar feedback</a:t>
            </a:r>
            <a:endParaRPr lang="pt-BR" sz="1400" noProof="0" dirty="0"/>
          </a:p>
        </p:txBody>
      </p:sp>
      <p:sp>
        <p:nvSpPr>
          <p:cNvPr id="29" name="Shape 27"/>
          <p:cNvSpPr/>
          <p:nvPr/>
        </p:nvSpPr>
        <p:spPr>
          <a:xfrm>
            <a:off x="1828800" y="5455843"/>
            <a:ext cx="8549640" cy="566928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BDD3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2148840" y="5541264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0B1F3A"/>
                </a:solidFill>
              </a:rPr>
              <a:t>Mentorias quinzenais conectam alunos, professores e especialistas da CPTM ao longo de todo o desenvolvimento.</a:t>
            </a:r>
            <a:endParaRPr lang="pt-BR" sz="1600" noProof="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sz="1400" b="0"/>
              <a:t>18</a:t>
            </a:fld>
            <a:endParaRPr lang="en-US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30">
                <a:solidFill>
                  <a:srgbClr val="D71920"/>
                </a:solidFill>
              </a:rPr>
              <a:t>FASES 7 A 9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1F3A"/>
                </a:solidFill>
              </a:rPr>
              <a:t>Entregar, demonstrar e defender</a:t>
            </a:r>
            <a:endParaRPr lang="en-US" sz="1800"/>
          </a:p>
        </p:txBody>
      </p:sp>
      <p:pic>
        <p:nvPicPr>
          <p:cNvPr id="4" name="Image 0" descr="/mnt/data/f3cb1c72aa.png"/>
          <p:cNvPicPr>
            <a:picLocks noChangeAspect="1"/>
          </p:cNvPicPr>
          <p:nvPr/>
        </p:nvPicPr>
        <p:blipFill>
          <a:blip r:embed="rId3"/>
          <a:srcRect l="14012" r="14012"/>
          <a:stretch/>
        </p:blipFill>
        <p:spPr>
          <a:xfrm>
            <a:off x="6080760" y="1097280"/>
            <a:ext cx="5577840" cy="5166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143000"/>
            <a:ext cx="49834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640080" y="1143000"/>
            <a:ext cx="73152" cy="1325880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6868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Entrega final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1764792"/>
            <a:ext cx="45445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Dashboard BI, documentação técnica, modelo de dados, manual do usuário, apresentação executiva e vídeo demonstrativo.</a:t>
            </a:r>
            <a:endParaRPr lang="pt-BR" sz="1400" noProof="0" dirty="0"/>
          </a:p>
        </p:txBody>
      </p:sp>
      <p:sp>
        <p:nvSpPr>
          <p:cNvPr id="9" name="Shape 6"/>
          <p:cNvSpPr/>
          <p:nvPr/>
        </p:nvSpPr>
        <p:spPr>
          <a:xfrm>
            <a:off x="640080" y="2788920"/>
            <a:ext cx="49834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40080" y="2788920"/>
            <a:ext cx="73152" cy="13258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6868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Pitch Day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3410712"/>
            <a:ext cx="45445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Apresentação para banca com representantes da CPTM, Fatec, Centro Paula Souza e especialistas convidados.</a:t>
            </a:r>
            <a:endParaRPr lang="pt-BR" sz="1400" noProof="0" dirty="0"/>
          </a:p>
        </p:txBody>
      </p:sp>
      <p:sp>
        <p:nvSpPr>
          <p:cNvPr id="13" name="Shape 10"/>
          <p:cNvSpPr/>
          <p:nvPr/>
        </p:nvSpPr>
        <p:spPr>
          <a:xfrm>
            <a:off x="640080" y="4434840"/>
            <a:ext cx="49834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640080" y="4434840"/>
            <a:ext cx="73152" cy="13258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6868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0B1F3A"/>
                </a:solidFill>
              </a:rPr>
              <a:t>Encerramento</a:t>
            </a:r>
            <a:endParaRPr lang="pt-BR" sz="1600" noProof="0" dirty="0"/>
          </a:p>
        </p:txBody>
      </p:sp>
      <p:sp>
        <p:nvSpPr>
          <p:cNvPr id="16" name="Text 13"/>
          <p:cNvSpPr/>
          <p:nvPr/>
        </p:nvSpPr>
        <p:spPr>
          <a:xfrm>
            <a:off x="868680" y="5056632"/>
            <a:ext cx="45445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Premiação, certificados, reconhecimento das equipes e divulgação institucional.</a:t>
            </a:r>
            <a:endParaRPr lang="pt-BR" sz="14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sz="1400" b="0"/>
              <a:t>19</a:t>
            </a:fld>
            <a:endParaRPr lang="en-US"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30">
                <a:solidFill>
                  <a:srgbClr val="D71920"/>
                </a:solidFill>
              </a:rPr>
              <a:t>RITMO DO PROJETO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0B1F3A"/>
                </a:solidFill>
              </a:rPr>
              <a:t>Cronograma de agosto a novembro</a:t>
            </a:r>
            <a:endParaRPr lang="pt-BR" sz="1800" noProof="0" dirty="0"/>
          </a:p>
        </p:txBody>
      </p:sp>
      <p:sp>
        <p:nvSpPr>
          <p:cNvPr id="4" name="Shape 2"/>
          <p:cNvSpPr/>
          <p:nvPr/>
        </p:nvSpPr>
        <p:spPr>
          <a:xfrm>
            <a:off x="3886200" y="1143000"/>
            <a:ext cx="1636776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886200" y="1280160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AGO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577840" y="1143000"/>
            <a:ext cx="1636776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577840" y="1280160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SET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7269480" y="1143000"/>
            <a:ext cx="1636776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269480" y="1280160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OUT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8961120" y="1143000"/>
            <a:ext cx="1636776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961120" y="1280160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NOV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685800" y="182880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Planejamento</a:t>
            </a:r>
            <a:endParaRPr lang="pt-BR" sz="1400" noProof="0" dirty="0"/>
          </a:p>
        </p:txBody>
      </p:sp>
      <p:sp>
        <p:nvSpPr>
          <p:cNvPr id="13" name="Shape 11"/>
          <p:cNvSpPr/>
          <p:nvPr/>
        </p:nvSpPr>
        <p:spPr>
          <a:xfrm>
            <a:off x="3941064" y="1783080"/>
            <a:ext cx="1527048" cy="256032"/>
          </a:xfrm>
          <a:prstGeom prst="round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85800" y="2304288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Edital e abertura</a:t>
            </a:r>
            <a:endParaRPr lang="pt-BR" sz="1400" noProof="0" dirty="0"/>
          </a:p>
        </p:txBody>
      </p:sp>
      <p:sp>
        <p:nvSpPr>
          <p:cNvPr id="15" name="Shape 13"/>
          <p:cNvSpPr/>
          <p:nvPr/>
        </p:nvSpPr>
        <p:spPr>
          <a:xfrm>
            <a:off x="3941064" y="2258568"/>
            <a:ext cx="1527048" cy="256032"/>
          </a:xfrm>
          <a:prstGeom prst="round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85800" y="2779776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Formação das equipes</a:t>
            </a:r>
            <a:endParaRPr lang="pt-BR" sz="1400" noProof="0" dirty="0"/>
          </a:p>
        </p:txBody>
      </p:sp>
      <p:sp>
        <p:nvSpPr>
          <p:cNvPr id="17" name="Shape 15"/>
          <p:cNvSpPr/>
          <p:nvPr/>
        </p:nvSpPr>
        <p:spPr>
          <a:xfrm>
            <a:off x="3941064" y="2734056"/>
            <a:ext cx="1527048" cy="256032"/>
          </a:xfrm>
          <a:prstGeom prst="round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85800" y="3255264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Desenvolvimento</a:t>
            </a:r>
            <a:endParaRPr lang="pt-BR" sz="1400" noProof="0" dirty="0"/>
          </a:p>
        </p:txBody>
      </p:sp>
      <p:sp>
        <p:nvSpPr>
          <p:cNvPr id="19" name="Shape 17"/>
          <p:cNvSpPr/>
          <p:nvPr/>
        </p:nvSpPr>
        <p:spPr>
          <a:xfrm>
            <a:off x="3941064" y="3209544"/>
            <a:ext cx="4910328" cy="256032"/>
          </a:xfrm>
          <a:prstGeom prst="round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85800" y="3730752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Mentorias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941064" y="3685032"/>
            <a:ext cx="6601968" cy="256032"/>
          </a:xfrm>
          <a:prstGeom prst="round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85800" y="4206240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Entrega parcial</a:t>
            </a:r>
            <a:endParaRPr lang="pt-BR" sz="1400" noProof="0" dirty="0"/>
          </a:p>
        </p:txBody>
      </p:sp>
      <p:sp>
        <p:nvSpPr>
          <p:cNvPr id="23" name="Shape 21"/>
          <p:cNvSpPr/>
          <p:nvPr/>
        </p:nvSpPr>
        <p:spPr>
          <a:xfrm>
            <a:off x="5632704" y="4160520"/>
            <a:ext cx="1527048" cy="256032"/>
          </a:xfrm>
          <a:prstGeom prst="round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85800" y="4681728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Ajustes</a:t>
            </a:r>
            <a:endParaRPr lang="pt-BR" sz="1400" noProof="0" dirty="0"/>
          </a:p>
        </p:txBody>
      </p:sp>
      <p:sp>
        <p:nvSpPr>
          <p:cNvPr id="25" name="Shape 23"/>
          <p:cNvSpPr/>
          <p:nvPr/>
        </p:nvSpPr>
        <p:spPr>
          <a:xfrm>
            <a:off x="7324344" y="4636008"/>
            <a:ext cx="1527048" cy="256032"/>
          </a:xfrm>
          <a:prstGeom prst="round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85800" y="5157216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72033"/>
                </a:solidFill>
              </a:rPr>
              <a:t>Entrega final</a:t>
            </a:r>
            <a:endParaRPr lang="pt-BR" sz="1400" noProof="0" dirty="0"/>
          </a:p>
        </p:txBody>
      </p:sp>
      <p:sp>
        <p:nvSpPr>
          <p:cNvPr id="27" name="Shape 25"/>
          <p:cNvSpPr/>
          <p:nvPr/>
        </p:nvSpPr>
        <p:spPr>
          <a:xfrm>
            <a:off x="9015984" y="5111496"/>
            <a:ext cx="1527048" cy="256032"/>
          </a:xfrm>
          <a:prstGeom prst="round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85800" y="5632704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 err="1">
                <a:solidFill>
                  <a:srgbClr val="172033"/>
                </a:solidFill>
              </a:rPr>
              <a:t>Pitch</a:t>
            </a:r>
            <a:r>
              <a:rPr lang="pt-BR" sz="1400" b="1" noProof="0" dirty="0">
                <a:solidFill>
                  <a:srgbClr val="172033"/>
                </a:solidFill>
              </a:rPr>
              <a:t> Day e premiação</a:t>
            </a:r>
            <a:endParaRPr lang="pt-BR" sz="1400" noProof="0" dirty="0"/>
          </a:p>
        </p:txBody>
      </p:sp>
      <p:sp>
        <p:nvSpPr>
          <p:cNvPr id="29" name="Shape 27"/>
          <p:cNvSpPr/>
          <p:nvPr/>
        </p:nvSpPr>
        <p:spPr>
          <a:xfrm>
            <a:off x="9015984" y="5586984"/>
            <a:ext cx="1527048" cy="256032"/>
          </a:xfrm>
          <a:prstGeom prst="round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713232" y="60533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D71920"/>
                </a:solidFill>
              </a:rPr>
              <a:t>Marcos-chave</a:t>
            </a:r>
            <a:endParaRPr lang="pt-BR" sz="1400" noProof="0" dirty="0"/>
          </a:p>
        </p:txBody>
      </p:sp>
      <p:sp>
        <p:nvSpPr>
          <p:cNvPr id="31" name="Text 29"/>
          <p:cNvSpPr/>
          <p:nvPr/>
        </p:nvSpPr>
        <p:spPr>
          <a:xfrm>
            <a:off x="2011680" y="6053328"/>
            <a:ext cx="8915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5D6B7E"/>
                </a:solidFill>
              </a:rPr>
              <a:t>entrega parcial em setembro  •  ajustes em outubro  •  entrega final e </a:t>
            </a:r>
            <a:r>
              <a:rPr lang="pt-BR" sz="1400" i="1" noProof="0" dirty="0" err="1">
                <a:solidFill>
                  <a:srgbClr val="5D6B7E"/>
                </a:solidFill>
              </a:rPr>
              <a:t>Pitch</a:t>
            </a:r>
            <a:r>
              <a:rPr lang="pt-BR" sz="1400" i="1" noProof="0" dirty="0">
                <a:solidFill>
                  <a:srgbClr val="5D6B7E"/>
                </a:solidFill>
              </a:rPr>
              <a:t> Day </a:t>
            </a:r>
            <a:r>
              <a:rPr lang="pt-BR" sz="1400" noProof="0" dirty="0">
                <a:solidFill>
                  <a:srgbClr val="5D6B7E"/>
                </a:solidFill>
              </a:rPr>
              <a:t>em novembro</a:t>
            </a:r>
            <a:endParaRPr lang="pt-BR" sz="1400" noProof="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sz="1400" b="0"/>
              <a:t>20</a:t>
            </a:fld>
            <a:endParaRPr lang="en-US"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30">
                <a:solidFill>
                  <a:srgbClr val="D71920"/>
                </a:solidFill>
              </a:rPr>
              <a:t>QUEM FAZ O QUÊ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1F3A"/>
                </a:solidFill>
              </a:rPr>
              <a:t>Responsabilidades compartilhadas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73152" cy="4800600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FATEC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1764792"/>
            <a:ext cx="2990088" cy="4050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pt-BR" sz="1400" noProof="0" dirty="0">
                <a:solidFill>
                  <a:srgbClr val="172033"/>
                </a:solidFill>
              </a:rPr>
              <a:t>Coordenar academicamente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Orientar os alunos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Disponibilizar professores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Acompanhar os projetos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Apoiar as apresentações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Assegurar qualidade técnica</a:t>
            </a:r>
            <a:endParaRPr lang="pt-BR" sz="1400" noProof="0" dirty="0"/>
          </a:p>
        </p:txBody>
      </p:sp>
      <p:sp>
        <p:nvSpPr>
          <p:cNvPr id="8" name="Shape 6"/>
          <p:cNvSpPr/>
          <p:nvPr/>
        </p:nvSpPr>
        <p:spPr>
          <a:xfrm>
            <a:off x="4389120" y="114300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389120" y="1143000"/>
            <a:ext cx="73152" cy="48006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61772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CPTM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1764792"/>
            <a:ext cx="2990088" cy="4050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pt-BR" sz="1400" noProof="0" dirty="0">
                <a:solidFill>
                  <a:srgbClr val="172033"/>
                </a:solidFill>
              </a:rPr>
              <a:t>Definir o desafio técnico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Disponibilizar especialistas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Fornecer documentação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Esclarecer dúvidas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Participar das mentorias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Fornecer dados autorizados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Avaliar os projetos</a:t>
            </a:r>
            <a:endParaRPr lang="pt-BR" sz="1400" noProof="0" dirty="0"/>
          </a:p>
        </p:txBody>
      </p:sp>
      <p:sp>
        <p:nvSpPr>
          <p:cNvPr id="12" name="Shape 10"/>
          <p:cNvSpPr/>
          <p:nvPr/>
        </p:nvSpPr>
        <p:spPr>
          <a:xfrm>
            <a:off x="8138160" y="1143000"/>
            <a:ext cx="3429000" cy="48006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138160" y="1143000"/>
            <a:ext cx="73152" cy="48006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36676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ALUNOS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1764792"/>
            <a:ext cx="2990088" cy="4050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pt-BR" sz="1400" noProof="0" dirty="0">
                <a:solidFill>
                  <a:srgbClr val="172033"/>
                </a:solidFill>
              </a:rPr>
              <a:t>Cumprir o cronograma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Participar das mentorias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Respeitar ética e confidencialidade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Desenvolver todos os produtos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Documentar a solução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Apresentar no </a:t>
            </a:r>
            <a:r>
              <a:rPr lang="pt-BR" sz="1400" i="1" noProof="0" dirty="0" err="1">
                <a:solidFill>
                  <a:srgbClr val="172033"/>
                </a:solidFill>
              </a:rPr>
              <a:t>Pitch</a:t>
            </a:r>
            <a:r>
              <a:rPr lang="pt-BR" sz="1400" i="1" noProof="0" dirty="0">
                <a:solidFill>
                  <a:srgbClr val="172033"/>
                </a:solidFill>
              </a:rPr>
              <a:t> Day</a:t>
            </a:r>
            <a:endParaRPr lang="pt-BR" sz="1400" i="1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sz="1400" b="0"/>
              <a:t>21</a:t>
            </a:fld>
            <a:endParaRPr lang="en-US"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30">
                <a:solidFill>
                  <a:srgbClr val="D71920"/>
                </a:solidFill>
              </a:rPr>
              <a:t>PRODUTOS OBRIGATÓRIOS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1F3A"/>
                </a:solidFill>
              </a:rPr>
              <a:t>Pacote mínimo de entrega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340156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73152" cy="1234440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</a:rPr>
              <a:t>Dashboard funcional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868680" y="1764792"/>
            <a:ext cx="29626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72033"/>
                </a:solidFill>
              </a:rPr>
              <a:t>Experiência de análise e navegação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4434840" y="1143000"/>
            <a:ext cx="340156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434840" y="1143000"/>
            <a:ext cx="73152" cy="1234440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663440" y="132588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</a:rPr>
              <a:t>Modelo dimensional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4663440" y="1764792"/>
            <a:ext cx="29626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72033"/>
                </a:solidFill>
              </a:rPr>
              <a:t>Fatos, dimensões e relacionamentos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8229600" y="1143000"/>
            <a:ext cx="340156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229600" y="1143000"/>
            <a:ext cx="73152" cy="1234440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458200" y="132588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</a:rPr>
              <a:t>ETL implementado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8458200" y="1764792"/>
            <a:ext cx="29626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72033"/>
                </a:solidFill>
              </a:rPr>
              <a:t>Regras de transformação reproduzíveis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640080" y="2679192"/>
            <a:ext cx="340156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40080" y="2679192"/>
            <a:ext cx="73152" cy="1234440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68680" y="2862072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</a:rPr>
              <a:t>Dicionário de dados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868680" y="3300984"/>
            <a:ext cx="29626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72033"/>
                </a:solidFill>
              </a:rPr>
              <a:t>Definições, campos e origens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4434840" y="2679192"/>
            <a:ext cx="340156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434840" y="2679192"/>
            <a:ext cx="73152" cy="1234440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663440" y="2862072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</a:rPr>
              <a:t>Manual do usuário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4663440" y="3300984"/>
            <a:ext cx="29626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72033"/>
                </a:solidFill>
              </a:rPr>
              <a:t>Orientação para consulta e uso</a:t>
            </a:r>
            <a:endParaRPr lang="en-US" sz="1400"/>
          </a:p>
        </p:txBody>
      </p:sp>
      <p:sp>
        <p:nvSpPr>
          <p:cNvPr id="24" name="Shape 22"/>
          <p:cNvSpPr/>
          <p:nvPr/>
        </p:nvSpPr>
        <p:spPr>
          <a:xfrm>
            <a:off x="8229600" y="2679192"/>
            <a:ext cx="340156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8229600" y="2679192"/>
            <a:ext cx="73152" cy="1234440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8458200" y="2862072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</a:rPr>
              <a:t>Arquitetura da solução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8458200" y="3300984"/>
            <a:ext cx="29626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72033"/>
                </a:solidFill>
              </a:rPr>
              <a:t>Componentes e fluxo de dados</a:t>
            </a:r>
            <a:endParaRPr lang="en-US" sz="1400"/>
          </a:p>
        </p:txBody>
      </p:sp>
      <p:sp>
        <p:nvSpPr>
          <p:cNvPr id="28" name="Shape 26"/>
          <p:cNvSpPr/>
          <p:nvPr/>
        </p:nvSpPr>
        <p:spPr>
          <a:xfrm>
            <a:off x="640080" y="4215384"/>
            <a:ext cx="340156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640080" y="4215384"/>
            <a:ext cx="73152" cy="1234440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868680" y="439826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</a:rPr>
              <a:t>Repositório versionado</a:t>
            </a:r>
            <a:endParaRPr lang="en-US" sz="1400"/>
          </a:p>
        </p:txBody>
      </p:sp>
      <p:sp>
        <p:nvSpPr>
          <p:cNvPr id="31" name="Text 29"/>
          <p:cNvSpPr/>
          <p:nvPr/>
        </p:nvSpPr>
        <p:spPr>
          <a:xfrm>
            <a:off x="868680" y="4837176"/>
            <a:ext cx="29626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72033"/>
                </a:solidFill>
              </a:rPr>
              <a:t>Organização e histórico do projeto</a:t>
            </a:r>
            <a:endParaRPr lang="en-US" sz="1400"/>
          </a:p>
        </p:txBody>
      </p:sp>
      <p:sp>
        <p:nvSpPr>
          <p:cNvPr id="32" name="Shape 30"/>
          <p:cNvSpPr/>
          <p:nvPr/>
        </p:nvSpPr>
        <p:spPr>
          <a:xfrm>
            <a:off x="4434840" y="4215384"/>
            <a:ext cx="340156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4434840" y="4215384"/>
            <a:ext cx="73152" cy="1234440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663440" y="439826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</a:rPr>
              <a:t>Relatório técnico</a:t>
            </a:r>
            <a:endParaRPr lang="en-US" sz="1400"/>
          </a:p>
        </p:txBody>
      </p:sp>
      <p:sp>
        <p:nvSpPr>
          <p:cNvPr id="35" name="Text 33"/>
          <p:cNvSpPr/>
          <p:nvPr/>
        </p:nvSpPr>
        <p:spPr>
          <a:xfrm>
            <a:off x="4663440" y="4837176"/>
            <a:ext cx="29626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72033"/>
                </a:solidFill>
              </a:rPr>
              <a:t>Método, decisões e resultados</a:t>
            </a:r>
            <a:endParaRPr lang="en-US" sz="1400"/>
          </a:p>
        </p:txBody>
      </p:sp>
      <p:sp>
        <p:nvSpPr>
          <p:cNvPr id="36" name="Shape 34"/>
          <p:cNvSpPr/>
          <p:nvPr/>
        </p:nvSpPr>
        <p:spPr>
          <a:xfrm>
            <a:off x="8229600" y="4215384"/>
            <a:ext cx="340156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8229600" y="4215384"/>
            <a:ext cx="73152" cy="123444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8458200" y="439826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</a:rPr>
              <a:t>Pitch executivo</a:t>
            </a:r>
            <a:endParaRPr lang="en-US" sz="1400"/>
          </a:p>
        </p:txBody>
      </p:sp>
      <p:sp>
        <p:nvSpPr>
          <p:cNvPr id="39" name="Text 37"/>
          <p:cNvSpPr/>
          <p:nvPr/>
        </p:nvSpPr>
        <p:spPr>
          <a:xfrm>
            <a:off x="8458200" y="4837176"/>
            <a:ext cx="29626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72033"/>
                </a:solidFill>
              </a:rPr>
              <a:t>Síntese de valor e demonstração</a:t>
            </a:r>
            <a:endParaRPr lang="en-US" sz="140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sz="1400" b="0"/>
              <a:t>22</a:t>
            </a:fld>
            <a:endParaRPr lang="en-US"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30">
                <a:solidFill>
                  <a:srgbClr val="D71920"/>
                </a:solidFill>
              </a:rPr>
              <a:t>CONTEÚDO ANALÍTICO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1F3A"/>
                </a:solidFill>
              </a:rPr>
              <a:t>Indicadores que o painel deve explorar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51663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73152" cy="18745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</a:rPr>
              <a:t>Valor e criticidade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868680" y="1764792"/>
            <a:ext cx="47274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pt-BR" sz="1400" noProof="0" dirty="0">
                <a:solidFill>
                  <a:srgbClr val="172033"/>
                </a:solidFill>
              </a:rPr>
              <a:t>Valor total do estoque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Classificação ABC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Itens de maior impacto financeiro</a:t>
            </a:r>
            <a:endParaRPr lang="pt-BR" sz="1400" noProof="0" dirty="0"/>
          </a:p>
        </p:txBody>
      </p:sp>
      <p:sp>
        <p:nvSpPr>
          <p:cNvPr id="8" name="Shape 6"/>
          <p:cNvSpPr/>
          <p:nvPr/>
        </p:nvSpPr>
        <p:spPr>
          <a:xfrm>
            <a:off x="6172200" y="1143000"/>
            <a:ext cx="51663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172200" y="1143000"/>
            <a:ext cx="73152" cy="1874520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0" y="1325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</a:rPr>
              <a:t>Movimentação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6400800" y="1764792"/>
            <a:ext cx="47274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pt-BR" sz="1400" noProof="0" dirty="0">
                <a:solidFill>
                  <a:srgbClr val="172033"/>
                </a:solidFill>
              </a:rPr>
              <a:t>Consumo histórico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Giro de estoque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Entradas e saídas por período</a:t>
            </a:r>
            <a:endParaRPr lang="pt-BR" sz="1400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3410712"/>
            <a:ext cx="51663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40080" y="3410712"/>
            <a:ext cx="73152" cy="187452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68680" y="35935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</a:rPr>
              <a:t>Cobertura e risco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868680" y="4032504"/>
            <a:ext cx="47274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pt-BR" sz="1400" noProof="0" dirty="0">
                <a:solidFill>
                  <a:srgbClr val="172033"/>
                </a:solidFill>
              </a:rPr>
              <a:t>Meses de cobertura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Itens sem consumo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Risco de ruptura ou excesso</a:t>
            </a:r>
            <a:endParaRPr lang="pt-BR" sz="1400" noProof="0" dirty="0"/>
          </a:p>
        </p:txBody>
      </p:sp>
      <p:sp>
        <p:nvSpPr>
          <p:cNvPr id="16" name="Shape 14"/>
          <p:cNvSpPr/>
          <p:nvPr/>
        </p:nvSpPr>
        <p:spPr>
          <a:xfrm>
            <a:off x="6172200" y="3410712"/>
            <a:ext cx="51663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172200" y="3410712"/>
            <a:ext cx="73152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00800" y="35935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</a:rPr>
              <a:t>Gestão e ação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6400800" y="4032504"/>
            <a:ext cx="4727448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pt-BR" sz="1400" noProof="0" dirty="0">
                <a:solidFill>
                  <a:srgbClr val="172033"/>
                </a:solidFill>
              </a:rPr>
              <a:t>Alertas inteligentes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Filtros e detalhamento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Priorização de análises</a:t>
            </a:r>
            <a:endParaRPr lang="pt-BR" sz="1400" noProof="0" dirty="0"/>
          </a:p>
        </p:txBody>
      </p:sp>
      <p:sp>
        <p:nvSpPr>
          <p:cNvPr id="20" name="Text 18"/>
          <p:cNvSpPr/>
          <p:nvPr/>
        </p:nvSpPr>
        <p:spPr>
          <a:xfrm>
            <a:off x="1188720" y="57150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0B1F3A"/>
                </a:solidFill>
              </a:rPr>
              <a:t>O painel não deve apenas mostrar números. Deve explicar onde agir, por que agir e qual o possível impacto.</a:t>
            </a:r>
            <a:endParaRPr lang="pt-BR" sz="16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sz="1400" b="0"/>
              <a:t>23</a:t>
            </a:fld>
            <a:endParaRPr lang="en-US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30">
                <a:solidFill>
                  <a:srgbClr val="D71920"/>
                </a:solidFill>
              </a:rPr>
              <a:t>REGRAS DO JOGO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1F3A"/>
                </a:solidFill>
              </a:rPr>
              <a:t>Governança, ética e propriedade intelectual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3401568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73152" cy="2880360"/>
          </a:xfrm>
          <a:prstGeom prst="rect">
            <a:avLst/>
          </a:prstGeom>
          <a:solidFill>
            <a:srgbClr val="1261A0"/>
          </a:solidFill>
          <a:ln w="12700">
            <a:solidFill>
              <a:srgbClr val="1261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b="1" noProof="0" dirty="0">
                <a:solidFill>
                  <a:srgbClr val="0B1F3A"/>
                </a:solidFill>
              </a:rPr>
              <a:t>Comissão organizadora</a:t>
            </a:r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868680" y="1764792"/>
            <a:ext cx="2962656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pt-BR" sz="1400" noProof="0" dirty="0">
                <a:solidFill>
                  <a:srgbClr val="172033"/>
                </a:solidFill>
              </a:rPr>
              <a:t>DPIN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Diretoria de Planejamento e Novos Negócios da CPTM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Coordenação da Fatec São José dos Campos</a:t>
            </a:r>
            <a:endParaRPr lang="pt-BR" sz="1400" noProof="0" dirty="0"/>
          </a:p>
        </p:txBody>
      </p:sp>
      <p:sp>
        <p:nvSpPr>
          <p:cNvPr id="8" name="Shape 6"/>
          <p:cNvSpPr/>
          <p:nvPr/>
        </p:nvSpPr>
        <p:spPr>
          <a:xfrm>
            <a:off x="4389120" y="1143000"/>
            <a:ext cx="3401568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9" name="Shape 7"/>
          <p:cNvSpPr/>
          <p:nvPr/>
        </p:nvSpPr>
        <p:spPr>
          <a:xfrm>
            <a:off x="4389120" y="1143000"/>
            <a:ext cx="73152" cy="288036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617720" y="132588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b="1" noProof="0" dirty="0">
                <a:solidFill>
                  <a:srgbClr val="0B1F3A"/>
                </a:solidFill>
              </a:rPr>
              <a:t>Comitê técnico</a:t>
            </a:r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4617720" y="1764792"/>
            <a:ext cx="2962656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pt-BR" sz="1400" noProof="0" dirty="0">
                <a:solidFill>
                  <a:srgbClr val="172033"/>
                </a:solidFill>
              </a:rPr>
              <a:t>Validar requisitos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Acompanhar a evolução</a:t>
            </a:r>
            <a:endParaRPr lang="pt-BR" sz="1400" noProof="0" dirty="0"/>
          </a:p>
          <a:p>
            <a:r>
              <a:rPr lang="pt-BR" sz="1400" noProof="0" dirty="0">
                <a:solidFill>
                  <a:srgbClr val="172033"/>
                </a:solidFill>
              </a:rPr>
              <a:t>Orientar tecnicamente as equipes</a:t>
            </a:r>
            <a:endParaRPr lang="pt-BR" sz="1400" noProof="0" dirty="0"/>
          </a:p>
        </p:txBody>
      </p:sp>
      <p:sp>
        <p:nvSpPr>
          <p:cNvPr id="12" name="Shape 10"/>
          <p:cNvSpPr/>
          <p:nvPr/>
        </p:nvSpPr>
        <p:spPr>
          <a:xfrm>
            <a:off x="8138160" y="1143000"/>
            <a:ext cx="3401568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138160" y="1143000"/>
            <a:ext cx="73152" cy="288036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366760" y="132588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b="1" noProof="0" dirty="0">
                <a:solidFill>
                  <a:srgbClr val="0B1F3A"/>
                </a:solidFill>
              </a:rPr>
              <a:t>Banca avaliadora</a:t>
            </a:r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8366760" y="1764792"/>
            <a:ext cx="2962656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172033"/>
                </a:solidFill>
              </a:rPr>
              <a:t>Avaliar as soluções finais conforme critérios definidos no Edital</a:t>
            </a:r>
            <a:endParaRPr lang="pt-BR" sz="1400" noProof="0" dirty="0"/>
          </a:p>
        </p:txBody>
      </p:sp>
      <p:sp>
        <p:nvSpPr>
          <p:cNvPr id="16" name="Shape 14"/>
          <p:cNvSpPr/>
          <p:nvPr/>
        </p:nvSpPr>
        <p:spPr>
          <a:xfrm>
            <a:off x="868680" y="4389120"/>
            <a:ext cx="10469880" cy="123444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141147" y="4700016"/>
            <a:ext cx="244515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8ECDF0"/>
                </a:solidFill>
              </a:rPr>
              <a:t>Propriedade </a:t>
            </a:r>
            <a:r>
              <a:rPr lang="pt-BR" b="1" noProof="0" dirty="0">
                <a:solidFill>
                  <a:srgbClr val="8ECDF0"/>
                </a:solidFill>
              </a:rPr>
              <a:t>intelectual</a:t>
            </a:r>
            <a:endParaRPr lang="pt-BR" sz="1600" noProof="0" dirty="0"/>
          </a:p>
        </p:txBody>
      </p:sp>
      <p:sp>
        <p:nvSpPr>
          <p:cNvPr id="18" name="Text 16"/>
          <p:cNvSpPr/>
          <p:nvPr/>
        </p:nvSpPr>
        <p:spPr>
          <a:xfrm>
            <a:off x="3586300" y="470001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FFFFFF"/>
                </a:solidFill>
              </a:rPr>
              <a:t>As soluções observarão o Convênio, a legislação aplicável e o Edital. Eventual continuidade poderá ser disciplinada por instrumentos específicos, preservando o reconhecimento da autoria acadêmica.</a:t>
            </a:r>
            <a:endParaRPr lang="pt-BR" sz="1600" noProof="0" dirty="0"/>
          </a:p>
        </p:txBody>
      </p:sp>
      <p:sp>
        <p:nvSpPr>
          <p:cNvPr id="19" name="Text 17"/>
          <p:cNvSpPr/>
          <p:nvPr/>
        </p:nvSpPr>
        <p:spPr>
          <a:xfrm>
            <a:off x="1298448" y="58704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D71920"/>
                </a:solidFill>
              </a:rPr>
              <a:t>Confidencialidade e uso ético dos dados são requisitos obrigatórios durante toda a execução do projeto.</a:t>
            </a:r>
            <a:endParaRPr lang="pt-BR" sz="14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sz="1400" b="0"/>
              <a:t>24</a:t>
            </a:fld>
            <a:endParaRPr lang="en-US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ork_cptm/template_than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965960" y="4069080"/>
            <a:ext cx="8275320" cy="960120"/>
          </a:xfrm>
          <a:prstGeom prst="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2194560" y="411480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 começa agora.</a:t>
            </a:r>
            <a:endParaRPr lang="en-US" sz="1800"/>
          </a:p>
        </p:txBody>
      </p:sp>
      <p:sp>
        <p:nvSpPr>
          <p:cNvPr id="5" name="Text 2"/>
          <p:cNvSpPr/>
          <p:nvPr/>
        </p:nvSpPr>
        <p:spPr>
          <a:xfrm>
            <a:off x="2194560" y="461772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 dados em decisões para a logística ferroviária.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f534e9f2-b7ec-4ccc-a69c-51d3e3635b4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A2D2C2733B7342A34F941B973AA6E6" ma:contentTypeVersion="9" ma:contentTypeDescription="Crie um novo documento." ma:contentTypeScope="" ma:versionID="83e78823389044c3e850bc8cc92d5cde">
  <xsd:schema xmlns:xsd="http://www.w3.org/2001/XMLSchema" xmlns:xs="http://www.w3.org/2001/XMLSchema" xmlns:p="http://schemas.microsoft.com/office/2006/metadata/properties" xmlns:ns2="f534e9f2-b7ec-4ccc-a69c-51d3e3635b48" xmlns:ns3="bf55bb95-0e2d-49eb-8730-bda5c0a73d75" targetNamespace="http://schemas.microsoft.com/office/2006/metadata/properties" ma:root="true" ma:fieldsID="73b6430b4d606cb958b81ea5d2eb3107" ns2:_="" ns3:_="">
    <xsd:import namespace="f534e9f2-b7ec-4ccc-a69c-51d3e3635b4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4e9f2-b7ec-4ccc-a69c-51d3e3635b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d10fa74-04b7-4561-940a-cc4c8c6574e0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4B2F46-3C84-4BF6-82F7-22C1A6378B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F68BA5-B20F-45B6-99CB-907D6BE80F93}">
  <ds:schemaRefs>
    <ds:schemaRef ds:uri="http://schemas.microsoft.com/office/2006/metadata/properties"/>
    <ds:schemaRef ds:uri="http://www.w3.org/XML/1998/namespace"/>
    <ds:schemaRef ds:uri="http://purl.org/dc/dcmitype/"/>
    <ds:schemaRef ds:uri="http://purl.org/dc/elements/1.1/"/>
    <ds:schemaRef ds:uri="545becc1-c6fe-4128-ade3-90b62cecd3b6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0c7b464c-9375-4795-9a85-c1ef5fc86f2c"/>
  </ds:schemaRefs>
</ds:datastoreItem>
</file>

<file path=customXml/itemProps3.xml><?xml version="1.0" encoding="utf-8"?>
<ds:datastoreItem xmlns:ds="http://schemas.openxmlformats.org/officeDocument/2006/customXml" ds:itemID="{6B6BC540-95CD-46D5-BC2B-94949486E368}"/>
</file>

<file path=docMetadata/LabelInfo.xml><?xml version="1.0" encoding="utf-8"?>
<clbl:labelList xmlns:clbl="http://schemas.microsoft.com/office/2020/mipLabelMetadata">
  <clbl:label id="{3b3ab2b8-1d5c-49c2-b0d1-c400c51becee}" enabled="0" method="" siteId="{3b3ab2b8-1d5c-49c2-b0d1-c400c51bece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2299</Words>
  <Application>Microsoft Office PowerPoint</Application>
  <PresentationFormat>Widescreen</PresentationFormat>
  <Paragraphs>415</Paragraphs>
  <Slides>25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25</vt:i4>
      </vt:variant>
    </vt:vector>
  </HeadingPairs>
  <TitlesOfParts>
    <vt:vector size="33" baseType="lpstr">
      <vt:lpstr>Aptos</vt:lpstr>
      <vt:lpstr>Aptos (Corpo)</vt:lpstr>
      <vt:lpstr>Aptos Display</vt:lpstr>
      <vt:lpstr>Arial</vt:lpstr>
      <vt:lpstr>Open Sans</vt:lpstr>
      <vt:lpstr>Verdana</vt:lpstr>
      <vt:lpstr>Tema do Office</vt:lpstr>
      <vt:lpstr>Office Theme</vt:lpstr>
      <vt:lpstr>Controle, Análise e Acompanhamento de Estoque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CPTM / Centro Paula Souza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 Experience 2026</dc:title>
  <dc:subject>LOG Experience 2026 - CPTM / CPS</dc:subject>
  <dc:creator>LEANDRO CAPERGIANI MOREIRA</dc:creator>
  <cp:lastModifiedBy>BRUNA LUIZA MARIGHETO</cp:lastModifiedBy>
  <cp:revision>9</cp:revision>
  <dcterms:created xsi:type="dcterms:W3CDTF">2026-08-25T19:19:22Z</dcterms:created>
  <dcterms:modified xsi:type="dcterms:W3CDTF">2026-08-25T20:55:46Z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0x01010078A2D2C2733B7342A34F941B973AA6E6</vt:lpwstr>
  </property>
  <property fmtid="{D5CDD505-2E9C-101B-9397-08002B2CF9AE}" pid="3" name="MediaServiceImageTags">
    <vt:lpwstr/>
  </property>
</Properties>
</file>